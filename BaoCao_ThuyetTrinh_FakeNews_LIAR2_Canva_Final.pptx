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d_image2.png"/>
          <p:cNvPicPr>
            <a:picLocks noChangeAspect="1"/>
          </p:cNvPicPr>
          <p:nvPr/>
        </p:nvPicPr>
        <p:blipFill>
          <a:blip r:embed="rId2"/>
          <a:stretch>
            <a:fillRect/>
          </a:stretch>
        </p:blipFill>
        <p:spPr>
          <a:xfrm>
            <a:off x="1097280" y="731520"/>
            <a:ext cx="2841378" cy="1097280"/>
          </a:xfrm>
          <a:prstGeom prst="rect">
            <a:avLst/>
          </a:prstGeom>
        </p:spPr>
      </p:pic>
      <p:sp>
        <p:nvSpPr>
          <p:cNvPr id="5" name="Rounded Rectangle 4"/>
          <p:cNvSpPr/>
          <p:nvPr/>
        </p:nvSpPr>
        <p:spPr>
          <a:xfrm>
            <a:off x="1097280" y="2103120"/>
            <a:ext cx="2926080" cy="36576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563EB"/>
                </a:solidFill>
                <a:latin typeface="Times New Roman"/>
              </a:defRPr>
            </a:pPr>
            <a:r>
              <a:t>BÁO CÁO MÔN HỌC: KHAI PHÁ DỮ LIỆU</a:t>
            </a:r>
          </a:p>
        </p:txBody>
      </p:sp>
      <p:sp>
        <p:nvSpPr>
          <p:cNvPr id="6" name="TextBox 5"/>
          <p:cNvSpPr txBox="1"/>
          <p:nvPr/>
        </p:nvSpPr>
        <p:spPr>
          <a:xfrm>
            <a:off x="1097280" y="2651760"/>
            <a:ext cx="10058400" cy="1463040"/>
          </a:xfrm>
          <a:prstGeom prst="rect">
            <a:avLst/>
          </a:prstGeom>
          <a:noFill/>
        </p:spPr>
        <p:txBody>
          <a:bodyPr wrap="none">
            <a:spAutoFit/>
          </a:bodyPr>
          <a:lstStyle/>
          <a:p>
            <a:pPr>
              <a:defRPr sz="2800" b="1">
                <a:solidFill>
                  <a:srgbClr val="0F172A"/>
                </a:solidFill>
                <a:latin typeface="Times New Roman"/>
              </a:defRPr>
            </a:pPr>
            <a:r>
              <a:t>PHÁT HIỆN TIN GIẢ CHÍNH TRỊ TRÊN BỘ DỮ LIỆU LIAR-2</a:t>
            </a:r>
            <a:br/>
            <a:r>
              <a:t>BẰNG HỌC MÁY ĐA ĐẶC TRƯNG &amp; HỌC KẾT HỢP ENSEMBLE</a:t>
            </a:r>
          </a:p>
          <a:p>
            <a:pPr>
              <a:spcBef>
                <a:spcPts val="800"/>
              </a:spcBef>
              <a:defRPr sz="1400">
                <a:solidFill>
                  <a:srgbClr val="475569"/>
                </a:solidFill>
                <a:latin typeface="Times New Roman"/>
              </a:defRPr>
            </a:pPr>
            <a:r>
              <a:t>Chiến lược 3 nhóm nhãn, Loại bỏ hoàn toàn rò rỉ dữ liệu trực tiếp và Kỹ thuật đặc trưng hành vi người nói</a:t>
            </a:r>
          </a:p>
        </p:txBody>
      </p:sp>
      <p:sp>
        <p:nvSpPr>
          <p:cNvPr id="7" name="Rounded Rectangle 6"/>
          <p:cNvSpPr/>
          <p:nvPr/>
        </p:nvSpPr>
        <p:spPr>
          <a:xfrm>
            <a:off x="1097280" y="4389120"/>
            <a:ext cx="4389120" cy="16459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2563EB"/>
                </a:solidFill>
                <a:latin typeface="Times New Roman"/>
              </a:defRPr>
            </a:pPr>
            <a:r>
              <a:t>GIẢNG VIÊN HƯỚNG DẪN</a:t>
            </a:r>
          </a:p>
          <a:p>
            <a:pPr>
              <a:defRPr sz="1600" b="1">
                <a:solidFill>
                  <a:srgbClr val="0F172A"/>
                </a:solidFill>
                <a:latin typeface="Times New Roman"/>
              </a:defRPr>
            </a:pPr>
            <a:r>
              <a:t>Ts. Vũ Thị Hạnh</a:t>
            </a:r>
          </a:p>
          <a:p>
            <a:pPr>
              <a:defRPr sz="1200">
                <a:solidFill>
                  <a:srgbClr val="475569"/>
                </a:solidFill>
                <a:latin typeface="Times New Roman"/>
              </a:defRPr>
            </a:pPr>
            <a:r>
              <a:t>Bộ môn Hệ thống thông tin - Khoa CNTT</a:t>
            </a:r>
          </a:p>
        </p:txBody>
      </p:sp>
      <p:sp>
        <p:nvSpPr>
          <p:cNvPr id="8" name="Rounded Rectangle 7"/>
          <p:cNvSpPr/>
          <p:nvPr/>
        </p:nvSpPr>
        <p:spPr>
          <a:xfrm>
            <a:off x="5852160" y="4389120"/>
            <a:ext cx="5303520" cy="16459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2563EB"/>
                </a:solidFill>
                <a:latin typeface="Times New Roman"/>
              </a:defRPr>
            </a:pPr>
            <a:r>
              <a:t>SINH VIÊN THỰC HIỆN</a:t>
            </a:r>
          </a:p>
          <a:p>
            <a:pPr>
              <a:defRPr sz="1350" b="1">
                <a:solidFill>
                  <a:srgbClr val="0F172A"/>
                </a:solidFill>
                <a:latin typeface="Times New Roman"/>
              </a:defRPr>
            </a:pPr>
            <a:r>
              <a:t>1. Lê Thị Linh     2. Đỗ Xuân Hương     3. Nguyễn Thị Tuyết Nhung</a:t>
            </a:r>
          </a:p>
          <a:p>
            <a:pPr>
              <a:defRPr sz="1200">
                <a:solidFill>
                  <a:srgbClr val="475569"/>
                </a:solidFill>
                <a:latin typeface="Times New Roman"/>
              </a:defRPr>
            </a:pPr>
            <a:r>
              <a:t>Lớp: 63TH - Trường Đại học Thủy Lợi (TLU)</a:t>
            </a:r>
          </a:p>
        </p:txBody>
      </p:sp>
      <p:sp>
        <p:nvSpPr>
          <p:cNvPr id="9" name="Rectangle 8"/>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11" name="TextBox 10"/>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01 / 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TÓM TẮT CẤU TRÚC BÁO CÁO ĐỒ ÁN</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02 / 32</a:t>
            </a:r>
          </a:p>
        </p:txBody>
      </p:sp>
      <p:sp>
        <p:nvSpPr>
          <p:cNvPr id="9" name="Rounded Rectangle 8"/>
          <p:cNvSpPr/>
          <p:nvPr/>
        </p:nvSpPr>
        <p:spPr>
          <a:xfrm>
            <a:off x="731520" y="1554480"/>
            <a:ext cx="205740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300" b="1">
                <a:solidFill>
                  <a:srgbClr val="2563EB"/>
                </a:solidFill>
                <a:latin typeface="Times New Roman"/>
              </a:defRPr>
            </a:pPr>
            <a:r>
              <a:t>Chương 1</a:t>
            </a:r>
          </a:p>
          <a:p>
            <a:pPr>
              <a:spcAft>
                <a:spcPts val="1000"/>
              </a:spcAft>
              <a:defRPr sz="1300" b="1">
                <a:solidFill>
                  <a:srgbClr val="0F172A"/>
                </a:solidFill>
                <a:latin typeface="Times New Roman"/>
              </a:defRPr>
            </a:pPr>
            <a:r>
              <a:t>Tổng quan Dữ liệu &amp; Tiền xử lý NLP</a:t>
            </a:r>
          </a:p>
          <a:p>
            <a:pPr>
              <a:spcAft>
                <a:spcPts val="600"/>
              </a:spcAft>
              <a:defRPr sz="1050">
                <a:solidFill>
                  <a:srgbClr val="475569"/>
                </a:solidFill>
                <a:latin typeface="Times New Roman"/>
              </a:defRPr>
            </a:pPr>
            <a:r>
              <a:t>• Khám phá EDA tập LIAR-2</a:t>
            </a:r>
          </a:p>
          <a:p>
            <a:pPr>
              <a:spcAft>
                <a:spcPts val="600"/>
              </a:spcAft>
              <a:defRPr sz="1050">
                <a:solidFill>
                  <a:srgbClr val="475569"/>
                </a:solidFill>
                <a:latin typeface="Times New Roman"/>
              </a:defRPr>
            </a:pPr>
            <a:r>
              <a:t>• Chiến lược phân nhóm 3 nhãn</a:t>
            </a:r>
          </a:p>
          <a:p>
            <a:pPr>
              <a:spcAft>
                <a:spcPts val="600"/>
              </a:spcAft>
              <a:defRPr sz="1050">
                <a:solidFill>
                  <a:srgbClr val="475569"/>
                </a:solidFill>
                <a:latin typeface="Times New Roman"/>
              </a:defRPr>
            </a:pPr>
            <a:r>
              <a:t>• Loại bỏ cột rò rỉ Justification</a:t>
            </a:r>
          </a:p>
          <a:p>
            <a:pPr>
              <a:spcAft>
                <a:spcPts val="600"/>
              </a:spcAft>
              <a:defRPr sz="1050">
                <a:solidFill>
                  <a:srgbClr val="475569"/>
                </a:solidFill>
                <a:latin typeface="Times New Roman"/>
              </a:defRPr>
            </a:pPr>
            <a:r>
              <a:t>• Bảo tồn từ phủ định trong NLP</a:t>
            </a:r>
          </a:p>
        </p:txBody>
      </p:sp>
      <p:sp>
        <p:nvSpPr>
          <p:cNvPr id="10" name="Rounded Rectangle 9"/>
          <p:cNvSpPr/>
          <p:nvPr/>
        </p:nvSpPr>
        <p:spPr>
          <a:xfrm>
            <a:off x="2926080" y="1554480"/>
            <a:ext cx="205740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300" b="1">
                <a:solidFill>
                  <a:srgbClr val="2563EB"/>
                </a:solidFill>
                <a:latin typeface="Times New Roman"/>
              </a:defRPr>
            </a:pPr>
            <a:r>
              <a:t>Chương 2</a:t>
            </a:r>
          </a:p>
          <a:p>
            <a:pPr>
              <a:spcAft>
                <a:spcPts val="1000"/>
              </a:spcAft>
              <a:defRPr sz="1300" b="1">
                <a:solidFill>
                  <a:srgbClr val="0F172A"/>
                </a:solidFill>
                <a:latin typeface="Times New Roman"/>
              </a:defRPr>
            </a:pPr>
            <a:r>
              <a:t>Kỹ thuật Kỹ sư Đặc trưng Đa chiều</a:t>
            </a:r>
          </a:p>
          <a:p>
            <a:pPr>
              <a:spcAft>
                <a:spcPts val="600"/>
              </a:spcAft>
              <a:defRPr sz="1050">
                <a:solidFill>
                  <a:srgbClr val="475569"/>
                </a:solidFill>
                <a:latin typeface="Times New Roman"/>
              </a:defRPr>
            </a:pPr>
            <a:r>
              <a:t>• Nhóm Stylometrics giật gân (5 chiều)</a:t>
            </a:r>
          </a:p>
          <a:p>
            <a:pPr>
              <a:spcAft>
                <a:spcPts val="600"/>
              </a:spcAft>
              <a:defRPr sz="1050">
                <a:solidFill>
                  <a:srgbClr val="475569"/>
                </a:solidFill>
                <a:latin typeface="Times New Roman"/>
              </a:defRPr>
            </a:pPr>
            <a:r>
              <a:t>• Hệ thống Uy tín Người nói (Trust Score &amp; Net Truth)</a:t>
            </a:r>
          </a:p>
          <a:p>
            <a:pPr>
              <a:spcAft>
                <a:spcPts val="600"/>
              </a:spcAft>
              <a:defRPr sz="1050">
                <a:solidFill>
                  <a:srgbClr val="475569"/>
                </a:solidFill>
                <a:latin typeface="Times New Roman"/>
              </a:defRPr>
            </a:pPr>
            <a:r>
              <a:t>• Không gian Combined Text (25.000 từ vựng)</a:t>
            </a:r>
          </a:p>
          <a:p>
            <a:pPr>
              <a:spcAft>
                <a:spcPts val="600"/>
              </a:spcAft>
              <a:defRPr sz="1050">
                <a:solidFill>
                  <a:srgbClr val="475569"/>
                </a:solidFill>
                <a:latin typeface="Times New Roman"/>
              </a:defRPr>
            </a:pPr>
            <a:r>
              <a:t>• Đóng gói ColumnTransformer 25.013 chiều</a:t>
            </a:r>
          </a:p>
        </p:txBody>
      </p:sp>
      <p:sp>
        <p:nvSpPr>
          <p:cNvPr id="11" name="Rounded Rectangle 10"/>
          <p:cNvSpPr/>
          <p:nvPr/>
        </p:nvSpPr>
        <p:spPr>
          <a:xfrm>
            <a:off x="5120640" y="1554480"/>
            <a:ext cx="205740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300" b="1">
                <a:solidFill>
                  <a:srgbClr val="2563EB"/>
                </a:solidFill>
                <a:latin typeface="Times New Roman"/>
              </a:defRPr>
            </a:pPr>
            <a:r>
              <a:t>Chương 3</a:t>
            </a:r>
          </a:p>
          <a:p>
            <a:pPr>
              <a:spcAft>
                <a:spcPts val="1000"/>
              </a:spcAft>
              <a:defRPr sz="1300" b="1">
                <a:solidFill>
                  <a:srgbClr val="0F172A"/>
                </a:solidFill>
                <a:latin typeface="Times New Roman"/>
              </a:defRPr>
            </a:pPr>
            <a:r>
              <a:t>Mô hình hóa &amp; Siêu mô hình Ensemble</a:t>
            </a:r>
          </a:p>
          <a:p>
            <a:pPr>
              <a:spcAft>
                <a:spcPts val="600"/>
              </a:spcAft>
              <a:defRPr sz="1050">
                <a:solidFill>
                  <a:srgbClr val="475569"/>
                </a:solidFill>
                <a:latin typeface="Times New Roman"/>
              </a:defRPr>
            </a:pPr>
            <a:r>
              <a:t>• 3 Trường phái: Logistic, RF (150 cây), XGB (200 cây)</a:t>
            </a:r>
          </a:p>
          <a:p>
            <a:pPr>
              <a:spcAft>
                <a:spcPts val="600"/>
              </a:spcAft>
              <a:defRPr sz="1050">
                <a:solidFill>
                  <a:srgbClr val="475569"/>
                </a:solidFill>
                <a:latin typeface="Times New Roman"/>
              </a:defRPr>
            </a:pPr>
            <a:r>
              <a:t>• Thực nghiệm đối chứng Text-only Baseline</a:t>
            </a:r>
          </a:p>
          <a:p>
            <a:pPr>
              <a:spcAft>
                <a:spcPts val="600"/>
              </a:spcAft>
              <a:defRPr sz="1050">
                <a:solidFill>
                  <a:srgbClr val="475569"/>
                </a:solidFill>
                <a:latin typeface="Times New Roman"/>
              </a:defRPr>
            </a:pPr>
            <a:r>
              <a:t>• Tối ưu hóa trọng số Soft Voting trên Valid</a:t>
            </a:r>
          </a:p>
          <a:p>
            <a:pPr>
              <a:spcAft>
                <a:spcPts val="600"/>
              </a:spcAft>
              <a:defRPr sz="1050">
                <a:solidFill>
                  <a:srgbClr val="475569"/>
                </a:solidFill>
                <a:latin typeface="Times New Roman"/>
              </a:defRPr>
            </a:pPr>
            <a:r>
              <a:t>• Siêu mô hình Weighted Ensemble đạt 73.61%</a:t>
            </a:r>
          </a:p>
        </p:txBody>
      </p:sp>
      <p:sp>
        <p:nvSpPr>
          <p:cNvPr id="12" name="Rounded Rectangle 11"/>
          <p:cNvSpPr/>
          <p:nvPr/>
        </p:nvSpPr>
        <p:spPr>
          <a:xfrm>
            <a:off x="7315199" y="1554480"/>
            <a:ext cx="205740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300" b="1">
                <a:solidFill>
                  <a:srgbClr val="2563EB"/>
                </a:solidFill>
                <a:latin typeface="Times New Roman"/>
              </a:defRPr>
            </a:pPr>
            <a:r>
              <a:t>Chương 4</a:t>
            </a:r>
          </a:p>
          <a:p>
            <a:pPr>
              <a:spcAft>
                <a:spcPts val="1000"/>
              </a:spcAft>
              <a:defRPr sz="1300" b="1">
                <a:solidFill>
                  <a:srgbClr val="0F172A"/>
                </a:solidFill>
                <a:latin typeface="Times New Roman"/>
              </a:defRPr>
            </a:pPr>
            <a:r>
              <a:t>Thực nghiệm &amp; Đánh giá Kết quả</a:t>
            </a:r>
          </a:p>
          <a:p>
            <a:pPr>
              <a:spcAft>
                <a:spcPts val="600"/>
              </a:spcAft>
              <a:defRPr sz="1050">
                <a:solidFill>
                  <a:srgbClr val="475569"/>
                </a:solidFill>
                <a:latin typeface="Times New Roman"/>
              </a:defRPr>
            </a:pPr>
            <a:r>
              <a:t>• Báo cáo phân loại chi tiết từng lớp</a:t>
            </a:r>
          </a:p>
          <a:p>
            <a:pPr>
              <a:spcAft>
                <a:spcPts val="600"/>
              </a:spcAft>
              <a:defRPr sz="1050">
                <a:solidFill>
                  <a:srgbClr val="475569"/>
                </a:solidFill>
                <a:latin typeface="Times New Roman"/>
              </a:defRPr>
            </a:pPr>
            <a:r>
              <a:t>• Đánh giá an toàn máy &amp; Phân tích lỗi thứ bậc</a:t>
            </a:r>
          </a:p>
          <a:p>
            <a:pPr>
              <a:spcAft>
                <a:spcPts val="600"/>
              </a:spcAft>
              <a:defRPr sz="1050">
                <a:solidFill>
                  <a:srgbClr val="475569"/>
                </a:solidFill>
                <a:latin typeface="Times New Roman"/>
              </a:defRPr>
            </a:pPr>
            <a:r>
              <a:t>• Ablation Study 5 chặng cải tiến liên tục</a:t>
            </a:r>
          </a:p>
          <a:p>
            <a:pPr>
              <a:spcAft>
                <a:spcPts val="600"/>
              </a:spcAft>
              <a:defRPr sz="1050">
                <a:solidFill>
                  <a:srgbClr val="475569"/>
                </a:solidFill>
                <a:latin typeface="Times New Roman"/>
              </a:defRPr>
            </a:pPr>
            <a:r>
              <a:t>• Bóc tách tầm quan trọng đặc trưng XGBoost</a:t>
            </a:r>
          </a:p>
        </p:txBody>
      </p:sp>
      <p:sp>
        <p:nvSpPr>
          <p:cNvPr id="13" name="Rounded Rectangle 12"/>
          <p:cNvSpPr/>
          <p:nvPr/>
        </p:nvSpPr>
        <p:spPr>
          <a:xfrm>
            <a:off x="9509760" y="1554480"/>
            <a:ext cx="205740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300" b="1">
                <a:solidFill>
                  <a:srgbClr val="2563EB"/>
                </a:solidFill>
                <a:latin typeface="Times New Roman"/>
              </a:defRPr>
            </a:pPr>
            <a:r>
              <a:t>Chương 5</a:t>
            </a:r>
          </a:p>
          <a:p>
            <a:pPr>
              <a:spcAft>
                <a:spcPts val="1000"/>
              </a:spcAft>
              <a:defRPr sz="1300" b="1">
                <a:solidFill>
                  <a:srgbClr val="0F172A"/>
                </a:solidFill>
                <a:latin typeface="Times New Roman"/>
              </a:defRPr>
            </a:pPr>
            <a:r>
              <a:t>Ứng dụng Thực tiễn &amp; Hướng phát triển</a:t>
            </a:r>
          </a:p>
          <a:p>
            <a:pPr>
              <a:spcAft>
                <a:spcPts val="600"/>
              </a:spcAft>
              <a:defRPr sz="1050">
                <a:solidFill>
                  <a:srgbClr val="475569"/>
                </a:solidFill>
                <a:latin typeface="Times New Roman"/>
              </a:defRPr>
            </a:pPr>
            <a:r>
              <a:t>• Hàm dự đoán thực hành predict_statement()</a:t>
            </a:r>
          </a:p>
          <a:p>
            <a:pPr>
              <a:spcAft>
                <a:spcPts val="600"/>
              </a:spcAft>
              <a:defRPr sz="1050">
                <a:solidFill>
                  <a:srgbClr val="475569"/>
                </a:solidFill>
                <a:latin typeface="Times New Roman"/>
              </a:defRPr>
            </a:pPr>
            <a:r>
              <a:t>• Thử nghiệm 2 kịch bản phát biểu thực tế</a:t>
            </a:r>
          </a:p>
          <a:p>
            <a:pPr>
              <a:spcAft>
                <a:spcPts val="600"/>
              </a:spcAft>
              <a:defRPr sz="1050">
                <a:solidFill>
                  <a:srgbClr val="475569"/>
                </a:solidFill>
                <a:latin typeface="Times New Roman"/>
              </a:defRPr>
            </a:pPr>
            <a:r>
              <a:t>• Đánh giá hạn chế của lớp Mixed (27.76%)</a:t>
            </a:r>
          </a:p>
          <a:p>
            <a:pPr>
              <a:spcAft>
                <a:spcPts val="600"/>
              </a:spcAft>
              <a:defRPr sz="1050">
                <a:solidFill>
                  <a:srgbClr val="475569"/>
                </a:solidFill>
                <a:latin typeface="Times New Roman"/>
              </a:defRPr>
            </a:pPr>
            <a:r>
              <a:t>• Định hướng mở rộng kiến trúc RoBERTa/LLM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1.1. BỐI CẢNH BÀI TOÁN &amp; TẬP DỮ LIỆU LIAR-2</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03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BỐI CẢNH &amp; THÁCH THỨC BÀI TOÁN</a:t>
            </a:r>
          </a:p>
          <a:p>
            <a:pPr>
              <a:spcAft>
                <a:spcPts val="600"/>
              </a:spcAft>
              <a:defRPr sz="1150">
                <a:solidFill>
                  <a:srgbClr val="0F172A"/>
                </a:solidFill>
                <a:latin typeface="Times New Roman"/>
              </a:defRPr>
            </a:pPr>
            <a:r>
              <a:t>• Sự bùng nổ của tin giả chính trị: Lan truyền nhanh gấp 6 lần tin thật trên mạng xã hội, thao túng nhận thức cử tri và làm xói mòn niềm tin dân chủ.</a:t>
            </a:r>
          </a:p>
          <a:p>
            <a:pPr>
              <a:spcAft>
                <a:spcPts val="600"/>
              </a:spcAft>
              <a:defRPr sz="1150">
                <a:solidFill>
                  <a:srgbClr val="0F172A"/>
                </a:solidFill>
                <a:latin typeface="Times New Roman"/>
              </a:defRPr>
            </a:pPr>
            <a:r>
              <a:t>• Tin giả chính trị được biên soạn cực kỳ tinh vi: Câu từ chuẩn ngữ pháp, lập luận chặt chẽ, không hề mắc lỗi chính tả ngớ ngẩn như tin rác thương mại.</a:t>
            </a:r>
          </a:p>
          <a:p>
            <a:pPr>
              <a:spcAft>
                <a:spcPts val="600"/>
              </a:spcAft>
              <a:defRPr sz="1150">
                <a:solidFill>
                  <a:srgbClr val="0F172A"/>
                </a:solidFill>
                <a:latin typeface="Times New Roman"/>
              </a:defRPr>
            </a:pPr>
            <a:r>
              <a:t>• Sự bế tắc của mô hình chỉ dùng văn bản (Text-only): Chỉ dựa vào câu nói (statement) thuần túy thì độ chính xác chỉ đạt ~58.23% (gần như tương đương dự đoán lớp đa số 57.62%).</a:t>
            </a:r>
          </a:p>
          <a:p>
            <a:pPr>
              <a:spcAft>
                <a:spcPts val="600"/>
              </a:spcAft>
              <a:defRPr sz="1150">
                <a:solidFill>
                  <a:srgbClr val="0F172A"/>
                </a:solidFill>
                <a:latin typeface="Times New Roman"/>
              </a:defRPr>
            </a:pPr>
            <a:r>
              <a:t>• Mục tiêu đề tài: Khai thác đa chiều ngữ cảnh bao gồm uy tín người nói, phong cách hành văn và siêu dữ liệu chính trị để bứt phá hiệu năng phân loại.</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TẬP DỮ LIỆU CHUẨN LIAR-2 (POLITIFACT)</a:t>
            </a:r>
          </a:p>
          <a:p>
            <a:pPr>
              <a:spcAft>
                <a:spcPts val="600"/>
              </a:spcAft>
              <a:defRPr sz="1150">
                <a:solidFill>
                  <a:srgbClr val="0F172A"/>
                </a:solidFill>
                <a:latin typeface="Times New Roman"/>
              </a:defRPr>
            </a:pPr>
            <a:r>
              <a:t>• Tập chuẩn Benchmark LIAR-2: Do William Yang Wang (UCSB) công bố và được mở rộng, thu thập từ các cuộc kiểm chứng thực tế của trang PolitiFact (Mỹ).</a:t>
            </a:r>
          </a:p>
          <a:p>
            <a:pPr>
              <a:spcAft>
                <a:spcPts val="600"/>
              </a:spcAft>
              <a:defRPr sz="1150">
                <a:solidFill>
                  <a:srgbClr val="0F172A"/>
                </a:solidFill>
                <a:latin typeface="Times New Roman"/>
              </a:defRPr>
            </a:pPr>
            <a:r>
              <a:t>• Quy mô dữ liệu: Gồm 22.962 phát biểu chính trị được phân loại theo 6 nhãn nguyên bản từ hoàn toàn sai đến sự thật tuyệt đối.</a:t>
            </a:r>
          </a:p>
          <a:p>
            <a:pPr>
              <a:spcAft>
                <a:spcPts val="600"/>
              </a:spcAft>
              <a:defRPr sz="1150">
                <a:solidFill>
                  <a:srgbClr val="0F172A"/>
                </a:solidFill>
                <a:latin typeface="Times New Roman"/>
              </a:defRPr>
            </a:pPr>
            <a:r>
              <a:t>• Hệ thống siêu dữ liệu đa dạng: Đi kèm lịch sử phát ngôn của hơn 4.000 chính trị gia, bối cảnh diễn thuyết, chức vụ công tác và chủ đề tranh luận.</a:t>
            </a:r>
          </a:p>
          <a:p>
            <a:pPr>
              <a:spcAft>
                <a:spcPts val="600"/>
              </a:spcAft>
              <a:defRPr sz="1150">
                <a:solidFill>
                  <a:srgbClr val="0F172A"/>
                </a:solidFill>
                <a:latin typeface="Times New Roman"/>
              </a:defRPr>
            </a:pPr>
            <a:r>
              <a:t>• Độ khó thực tế: Dữ liệu thực tế có ranh giới mong manh giữa 'nói dối trắng trợn', 'lập lờ phóng đại' và 'thật một phần', tạo thách thức cực lớn cho thuật toán học máy.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1.2. CẤU TRÚC THUỘC TÍNH &amp; PHÂN CHIA QUY MÔ DỮ LIỆU</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04 / 32</a:t>
            </a:r>
          </a:p>
        </p:txBody>
      </p:sp>
      <p:sp>
        <p:nvSpPr>
          <p:cNvPr id="9" name="Rounded Rectangle 8"/>
          <p:cNvSpPr/>
          <p:nvPr/>
        </p:nvSpPr>
        <p:spPr>
          <a:xfrm>
            <a:off x="731520" y="1463040"/>
            <a:ext cx="3383280" cy="13716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1100" b="1">
                <a:solidFill>
                  <a:srgbClr val="2563EB"/>
                </a:solidFill>
                <a:latin typeface="Times New Roman"/>
              </a:defRPr>
            </a:pPr>
            <a:r>
              <a:t>TẬP HUẤN LUYỆN (TRAIN)</a:t>
            </a:r>
          </a:p>
          <a:p>
            <a:pPr>
              <a:defRPr sz="1600" b="1">
                <a:solidFill>
                  <a:srgbClr val="0F172A"/>
                </a:solidFill>
                <a:latin typeface="Times New Roman"/>
              </a:defRPr>
            </a:pPr>
            <a:r>
              <a:t>18.369 mẫu (80%)</a:t>
            </a:r>
          </a:p>
          <a:p>
            <a:pPr>
              <a:defRPr sz="1000">
                <a:solidFill>
                  <a:srgbClr val="475569"/>
                </a:solidFill>
                <a:latin typeface="Times New Roman"/>
              </a:defRPr>
            </a:pPr>
            <a:r>
              <a:t>Học từ vựng TF-IDF, fit StandardScaler và tối ưu hóa tham số mô hình</a:t>
            </a:r>
          </a:p>
        </p:txBody>
      </p:sp>
      <p:sp>
        <p:nvSpPr>
          <p:cNvPr id="10" name="Rounded Rectangle 9"/>
          <p:cNvSpPr/>
          <p:nvPr/>
        </p:nvSpPr>
        <p:spPr>
          <a:xfrm>
            <a:off x="4389120" y="1463040"/>
            <a:ext cx="3383280" cy="13716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1100" b="1">
                <a:solidFill>
                  <a:srgbClr val="2563EB"/>
                </a:solidFill>
                <a:latin typeface="Times New Roman"/>
              </a:defRPr>
            </a:pPr>
            <a:r>
              <a:t>TẬP HỢP THỨC (VALIDATION)</a:t>
            </a:r>
          </a:p>
          <a:p>
            <a:pPr>
              <a:defRPr sz="1600" b="1">
                <a:solidFill>
                  <a:srgbClr val="0F172A"/>
                </a:solidFill>
                <a:latin typeface="Times New Roman"/>
              </a:defRPr>
            </a:pPr>
            <a:r>
              <a:t>2.297 mẫu (10%)</a:t>
            </a:r>
          </a:p>
          <a:p>
            <a:pPr>
              <a:defRPr sz="1000">
                <a:solidFill>
                  <a:srgbClr val="475569"/>
                </a:solidFill>
                <a:latin typeface="Times New Roman"/>
              </a:defRPr>
            </a:pPr>
            <a:r>
              <a:t>Kiểm định khách quan, tinh chỉnh ngưỡng và tìm trọng số Soft Voting tối ưu</a:t>
            </a:r>
          </a:p>
        </p:txBody>
      </p:sp>
      <p:sp>
        <p:nvSpPr>
          <p:cNvPr id="11" name="Rounded Rectangle 10"/>
          <p:cNvSpPr/>
          <p:nvPr/>
        </p:nvSpPr>
        <p:spPr>
          <a:xfrm>
            <a:off x="8046720" y="1463040"/>
            <a:ext cx="3383280" cy="13716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1100" b="1">
                <a:solidFill>
                  <a:srgbClr val="2563EB"/>
                </a:solidFill>
                <a:latin typeface="Times New Roman"/>
              </a:defRPr>
            </a:pPr>
            <a:r>
              <a:t>TẬP KIỂM THỬ (TEST)</a:t>
            </a:r>
          </a:p>
          <a:p>
            <a:pPr>
              <a:defRPr sz="1600" b="1">
                <a:solidFill>
                  <a:srgbClr val="0F172A"/>
                </a:solidFill>
                <a:latin typeface="Times New Roman"/>
              </a:defRPr>
            </a:pPr>
            <a:r>
              <a:t>2.296 mẫu (10%)</a:t>
            </a:r>
          </a:p>
          <a:p>
            <a:pPr>
              <a:defRPr sz="1000">
                <a:solidFill>
                  <a:srgbClr val="475569"/>
                </a:solidFill>
                <a:latin typeface="Times New Roman"/>
              </a:defRPr>
            </a:pPr>
            <a:r>
              <a:t>Đánh giá mù hoàn toàn (blind evaluation), kiểm tra độ khái quát hóa cuối cùng</a:t>
            </a:r>
          </a:p>
        </p:txBody>
      </p:sp>
      <p:sp>
        <p:nvSpPr>
          <p:cNvPr id="12" name="Rounded Rectangle 11"/>
          <p:cNvSpPr/>
          <p:nvPr/>
        </p:nvSpPr>
        <p:spPr>
          <a:xfrm>
            <a:off x="731520" y="3017520"/>
            <a:ext cx="10698480" cy="3108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CẤU TRÚC 16 TRƯỜNG THUỘC TÍNH PHONG PHÚ TRONG LIAR-2</a:t>
            </a:r>
          </a:p>
          <a:p>
            <a:pPr>
              <a:spcAft>
                <a:spcPts val="600"/>
              </a:spcAft>
              <a:defRPr sz="1150">
                <a:solidFill>
                  <a:srgbClr val="0F172A"/>
                </a:solidFill>
                <a:latin typeface="Times New Roman"/>
              </a:defRPr>
            </a:pPr>
            <a:r>
              <a:t>• Văn bản phát biểu (statement): Câu nói nguyên bản của chính trị gia được đưa lên bàn kiểm chứng.</a:t>
            </a:r>
          </a:p>
          <a:p>
            <a:pPr>
              <a:spcAft>
                <a:spcPts val="600"/>
              </a:spcAft>
              <a:defRPr sz="1150">
                <a:solidFill>
                  <a:srgbClr val="0F172A"/>
                </a:solidFill>
                <a:latin typeface="Times New Roman"/>
              </a:defRPr>
            </a:pPr>
            <a:r>
              <a:t>• Siêu dữ liệu người nói &amp; bối cảnh: Tên chính trị gia (speaker), chức vụ (job_title), bang cư trú (state_info), đảng phái (party_affiliation), bối cảnh phát ngôn (context), chủ đề tranh luận (subject).</a:t>
            </a:r>
          </a:p>
          <a:p>
            <a:pPr>
              <a:spcAft>
                <a:spcPts val="600"/>
              </a:spcAft>
              <a:defRPr sz="1150">
                <a:solidFill>
                  <a:srgbClr val="0F172A"/>
                </a:solidFill>
                <a:latin typeface="Times New Roman"/>
              </a:defRPr>
            </a:pPr>
            <a:r>
              <a:t>• Hồ sơ kiểm chứng lịch sử: 5 trường thuộc tính số đếm số lần nói dối/thật trong quá khứ: barely_true_counts, false_counts, half_true_counts, mostly_true_counts, pants_on_fire_counts.</a:t>
            </a:r>
          </a:p>
          <a:p>
            <a:pPr>
              <a:spcAft>
                <a:spcPts val="600"/>
              </a:spcAft>
              <a:defRPr sz="1150">
                <a:solidFill>
                  <a:srgbClr val="0F172A"/>
                </a:solidFill>
                <a:latin typeface="Times New Roman"/>
              </a:defRPr>
            </a:pPr>
            <a:r>
              <a:t>• Trường dữ liệu rò rỉ (justification): Bài giải thích chi tiết của nhà báo PolitiFact giải thích lý do kết luận nhãn.</a:t>
            </a:r>
          </a:p>
          <a:p>
            <a:pPr>
              <a:spcAft>
                <a:spcPts val="600"/>
              </a:spcAft>
              <a:defRPr sz="1150">
                <a:solidFill>
                  <a:srgbClr val="0F172A"/>
                </a:solidFill>
                <a:latin typeface="Times New Roman"/>
              </a:defRPr>
            </a:pPr>
            <a:r>
              <a:t>• Mã định danh kỹ thuật (id): Khóa định danh bản ghi trong cơ sở dữ liệu.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1.3. KHÁM PHÁ DỮ LIỆU (EXPLORATORY DATA ANALYSIS - EDA)</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05 / 32</a:t>
            </a:r>
          </a:p>
        </p:txBody>
      </p:sp>
      <p:pic>
        <p:nvPicPr>
          <p:cNvPr id="9" name="Picture 8" descr="hinh1_1_eda_distribution.png"/>
          <p:cNvPicPr>
            <a:picLocks noChangeAspect="1"/>
          </p:cNvPicPr>
          <p:nvPr/>
        </p:nvPicPr>
        <p:blipFill>
          <a:blip r:embed="rId3"/>
          <a:stretch>
            <a:fillRect/>
          </a:stretch>
        </p:blipFill>
        <p:spPr>
          <a:xfrm>
            <a:off x="731520" y="1463040"/>
            <a:ext cx="5669280" cy="1771650"/>
          </a:xfrm>
          <a:prstGeom prst="rect">
            <a:avLst/>
          </a:prstGeom>
        </p:spPr>
      </p:pic>
      <p:sp>
        <p:nvSpPr>
          <p:cNvPr id="10" name="Rounded Rectangle 9"/>
          <p:cNvSpPr/>
          <p:nvPr/>
        </p:nvSpPr>
        <p:spPr>
          <a:xfrm>
            <a:off x="6583680" y="1463040"/>
            <a:ext cx="484632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PHÁT HIỆN then chốt TỪ BIỂU ĐỒ EDA</a:t>
            </a:r>
          </a:p>
          <a:p>
            <a:pPr>
              <a:spcAft>
                <a:spcPts val="600"/>
              </a:spcAft>
              <a:defRPr sz="1150">
                <a:solidFill>
                  <a:srgbClr val="0F172A"/>
                </a:solidFill>
                <a:latin typeface="Times New Roman"/>
              </a:defRPr>
            </a:pPr>
            <a:r>
              <a:t>• Phân phối nhãn thực tế trên tập Train (18.369 mẫu):</a:t>
            </a:r>
          </a:p>
          <a:p>
            <a:pPr>
              <a:spcAft>
                <a:spcPts val="600"/>
              </a:spcAft>
              <a:defRPr sz="1150">
                <a:solidFill>
                  <a:srgbClr val="0F172A"/>
                </a:solidFill>
                <a:latin typeface="Times New Roman"/>
              </a:defRPr>
            </a:pPr>
            <a:r>
              <a:t>•   • Nhóm 0 (FALSE): 10.591 mẫu (57.7% - Đa số áp đảo).</a:t>
            </a:r>
          </a:p>
          <a:p>
            <a:pPr>
              <a:spcAft>
                <a:spcPts val="600"/>
              </a:spcAft>
              <a:defRPr sz="1150">
                <a:solidFill>
                  <a:srgbClr val="0F172A"/>
                </a:solidFill>
                <a:latin typeface="Times New Roman"/>
              </a:defRPr>
            </a:pPr>
            <a:r>
              <a:t>•   • Nhóm 1 (MIXED): 2.967 mẫu (16.2% - Nhóm thiểu số khó học).</a:t>
            </a:r>
          </a:p>
          <a:p>
            <a:pPr>
              <a:spcAft>
                <a:spcPts val="600"/>
              </a:spcAft>
              <a:defRPr sz="1150">
                <a:solidFill>
                  <a:srgbClr val="0F172A"/>
                </a:solidFill>
                <a:latin typeface="Times New Roman"/>
              </a:defRPr>
            </a:pPr>
            <a:r>
              <a:t>•   • Nhóm 2 (TRUE): 4.811 mẫu (26.2% - Nhóm sự thật chính thống).</a:t>
            </a:r>
          </a:p>
          <a:p>
            <a:pPr>
              <a:spcAft>
                <a:spcPts val="600"/>
              </a:spcAft>
              <a:defRPr sz="1150">
                <a:solidFill>
                  <a:srgbClr val="0F172A"/>
                </a:solidFill>
                <a:latin typeface="Times New Roman"/>
              </a:defRPr>
            </a:pPr>
            <a:r>
              <a:t>• Tỷ lệ trên Test (2.296 mẫu): FALSE 57.62% (1.323), MIXED 16.16% (371), TRUE 26.22% (602). Khớp hoàn hảo phân phối tự nhiên.</a:t>
            </a:r>
          </a:p>
          <a:p>
            <a:pPr>
              <a:spcAft>
                <a:spcPts val="600"/>
              </a:spcAft>
              <a:defRPr sz="1150">
                <a:solidFill>
                  <a:srgbClr val="0F172A"/>
                </a:solidFill>
                <a:latin typeface="Times New Roman"/>
              </a:defRPr>
            </a:pPr>
            <a:r>
              <a:t>• Hành vi viết hoa toàn bộ (All-caps): Nhóm FALSE có tỷ lệ chữ hoa trung bình 0.0177, cao gấp ~1.9 lần nhóm TRUE (0.0092), phản ánh thói quen 'hét vào mặt độc giả'.</a:t>
            </a:r>
          </a:p>
          <a:p>
            <a:pPr>
              <a:spcAft>
                <a:spcPts val="600"/>
              </a:spcAft>
              <a:defRPr sz="1150">
                <a:solidFill>
                  <a:srgbClr val="0F172A"/>
                </a:solidFill>
                <a:latin typeface="Times New Roman"/>
              </a:defRPr>
            </a:pPr>
            <a:r>
              <a:t>• Mật độ dấu chấm than (!): Nhóm FALSE đạt 0.0303, cao gấp ~7.8 lần nhóm TRUE (0.0039), thể hiện tính giật gân, kích động cảm xúc.</a:t>
            </a:r>
          </a:p>
          <a:p>
            <a:pPr>
              <a:spcAft>
                <a:spcPts val="600"/>
              </a:spcAft>
              <a:defRPr sz="1150">
                <a:solidFill>
                  <a:srgbClr val="0F172A"/>
                </a:solidFill>
                <a:latin typeface="Times New Roman"/>
              </a:defRPr>
            </a:pPr>
            <a:r>
              <a:t>• Chỉ số thặng dư sự thật (Net Truth): FALSE là -540.3 (âm cực sâu), MIXED là -93.4, TRUE là -37.3 (ít âm nhất).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1.4. KIỂM SOÁT RÒ RỈ DỮ LIỆU TRỰC TIẾP (ZERO DIRECT LEAKAGE)</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06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DC2626"/>
                </a:solidFill>
                <a:latin typeface="Times New Roman"/>
              </a:defRPr>
            </a:pPr>
            <a:r>
              <a:t>❌ TẠI SAO BẮT BUỘC XÓA CỘT 'JUSTIFICATION'?</a:t>
            </a:r>
          </a:p>
          <a:p>
            <a:pPr>
              <a:spcAft>
                <a:spcPts val="600"/>
              </a:spcAft>
              <a:defRPr sz="1150">
                <a:solidFill>
                  <a:srgbClr val="0F172A"/>
                </a:solidFill>
                <a:latin typeface="Times New Roman"/>
              </a:defRPr>
            </a:pPr>
            <a:r>
              <a:t>• Bản chất của cột 'justification': Là bài phân tích đánh giá của chuyên gia PolitiFact được viết SAU KHI đã kiểm chứng xong toàn bộ sự thật.</a:t>
            </a:r>
          </a:p>
          <a:p>
            <a:pPr>
              <a:spcAft>
                <a:spcPts val="600"/>
              </a:spcAft>
              <a:defRPr sz="1150">
                <a:solidFill>
                  <a:srgbClr val="0F172A"/>
                </a:solidFill>
                <a:latin typeface="Times New Roman"/>
              </a:defRPr>
            </a:pPr>
            <a:r>
              <a:t>• Chứa sẵn đáp án kết luận: Trong bài viết chứa sẵn các mẫu câu kết án: 'We rate this claim False because...', 'This is a pants-on-fire lie...'.</a:t>
            </a:r>
          </a:p>
          <a:p>
            <a:pPr>
              <a:spcAft>
                <a:spcPts val="600"/>
              </a:spcAft>
              <a:defRPr sz="1150">
                <a:solidFill>
                  <a:srgbClr val="0F172A"/>
                </a:solidFill>
                <a:latin typeface="Times New Roman"/>
              </a:defRPr>
            </a:pPr>
            <a:r>
              <a:t>• Ảo tưởng công nghệ: Nếu giữ cột này, mô hình TF-IDF đạt độ chính xác ảo &gt;98% nhưng thực chất chỉ học vẹt các cụm từ kết án có sẵn của nhà báo.</a:t>
            </a:r>
          </a:p>
          <a:p>
            <a:pPr>
              <a:spcAft>
                <a:spcPts val="600"/>
              </a:spcAft>
              <a:defRPr sz="1150">
                <a:solidFill>
                  <a:srgbClr val="0F172A"/>
                </a:solidFill>
                <a:latin typeface="Times New Roman"/>
              </a:defRPr>
            </a:pPr>
            <a:r>
              <a:t>• Vô giá trị trong thực tiễn: Khi ứng dụng hệ thống kiểm chứng câu nói mới trên mạng xã hội, bài viết justification chưa hề tồn tại!</a:t>
            </a:r>
          </a:p>
          <a:p>
            <a:pPr>
              <a:spcAft>
                <a:spcPts val="600"/>
              </a:spcAft>
              <a:defRPr sz="1150">
                <a:solidFill>
                  <a:srgbClr val="0F172A"/>
                </a:solidFill>
                <a:latin typeface="Times New Roman"/>
              </a:defRPr>
            </a:pPr>
            <a:r>
              <a:t>=&gt; Đồ án tiến hành DROP hoàn toàn cột này ngay từ bước nạp dữ liệu đầu tiên.</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6A34A"/>
                </a:solidFill>
                <a:latin typeface="Times New Roman"/>
              </a:defRPr>
            </a:pPr>
            <a:r>
              <a:t>✅ NGUYÊN TẮC 'ZERO DIRECT DATA LEAKAGE'</a:t>
            </a:r>
          </a:p>
          <a:p>
            <a:pPr>
              <a:spcAft>
                <a:spcPts val="600"/>
              </a:spcAft>
              <a:defRPr sz="1150">
                <a:solidFill>
                  <a:srgbClr val="0F172A"/>
                </a:solidFill>
                <a:latin typeface="Times New Roman"/>
              </a:defRPr>
            </a:pPr>
            <a:r>
              <a:t>• Loại bỏ trường khóa kỹ thuật 'id': Tránh mô hình ghi nhớ tương quan giả tạo giữa thứ tự đánh số id và nhãn thời gian.</a:t>
            </a:r>
          </a:p>
          <a:p>
            <a:pPr>
              <a:spcAft>
                <a:spcPts val="600"/>
              </a:spcAft>
              <a:defRPr sz="1150">
                <a:solidFill>
                  <a:srgbClr val="0F172A"/>
                </a:solidFill>
                <a:latin typeface="Times New Roman"/>
              </a:defRPr>
            </a:pPr>
            <a:r>
              <a:t>• Độc lập tuyệt đối giữa các tập: Toàn bộ quá trình chuẩn hóa văn bản, fit từ điển TF-IDF (25.000 từ) và StandardScaler CHỈ ĐƯỢC PHÉP FIT TRÊN TẬP TRAIN.</a:t>
            </a:r>
          </a:p>
          <a:p>
            <a:pPr>
              <a:spcAft>
                <a:spcPts val="600"/>
              </a:spcAft>
              <a:defRPr sz="1150">
                <a:solidFill>
                  <a:srgbClr val="0F172A"/>
                </a:solidFill>
                <a:latin typeface="Times New Roman"/>
              </a:defRPr>
            </a:pPr>
            <a:r>
              <a:t>• Tập Validation và Test chỉ dùng hàm transform(): Giữ trạng thái 'mù thông tin' hoàn toàn với phân phối tương lai.</a:t>
            </a:r>
          </a:p>
          <a:p>
            <a:pPr>
              <a:spcAft>
                <a:spcPts val="600"/>
              </a:spcAft>
              <a:defRPr sz="1150">
                <a:solidFill>
                  <a:srgbClr val="0F172A"/>
                </a:solidFill>
                <a:latin typeface="Times New Roman"/>
              </a:defRPr>
            </a:pPr>
            <a:r>
              <a:t>• Bảo đảm tính minh bạch khoa học: Độ chính xác 73.61% của đề tài phản ánh đúng năng lực tổng quát hóa thực chất trên dữ liệu thực tế ngoài đời sống.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1.5. CHIẾN LƯỢC PHÂN NHÓM 3 NHÃN MỤC TIÊU (3-1-2)</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07 / 32</a:t>
            </a:r>
          </a:p>
        </p:txBody>
      </p:sp>
      <p:graphicFrame>
        <p:nvGraphicFramePr>
          <p:cNvPr id="9" name="Table 8"/>
          <p:cNvGraphicFramePr>
            <a:graphicFrameLocks noGrp="1"/>
          </p:cNvGraphicFramePr>
          <p:nvPr/>
        </p:nvGraphicFramePr>
        <p:xfrm>
          <a:off x="731520" y="1463040"/>
          <a:ext cx="10698480" cy="2286000"/>
        </p:xfrm>
        <a:graphic>
          <a:graphicData uri="http://schemas.openxmlformats.org/drawingml/2006/table">
            <a:tbl>
              <a:tblPr firstRow="1" bandRow="1">
                <a:tableStyleId>{5C22544A-7EE6-4342-B048-85BDC9FD1C3A}</a:tableStyleId>
              </a:tblPr>
              <a:tblGrid>
                <a:gridCol w="1280160"/>
                <a:gridCol w="2011680"/>
                <a:gridCol w="2377440"/>
                <a:gridCol w="5029200"/>
              </a:tblGrid>
              <a:tr h="571500">
                <a:tc>
                  <a:txBody>
                    <a:bodyPr/>
                    <a:lstStyle/>
                    <a:p>
                      <a:pPr algn="ctr">
                        <a:defRPr sz="1100" b="1">
                          <a:solidFill>
                            <a:srgbClr val="FFFFFF"/>
                          </a:solidFill>
                          <a:latin typeface="Times New Roman"/>
                        </a:defRPr>
                      </a:pPr>
                      <a:r>
                        <a:t>Nhãn Mới</a:t>
                      </a:r>
                    </a:p>
                  </a:txBody>
                  <a:tcPr>
                    <a:solidFill>
                      <a:srgbClr val="1E3A8A"/>
                    </a:solidFill>
                  </a:tcPr>
                </a:tc>
                <a:tc>
                  <a:txBody>
                    <a:bodyPr/>
                    <a:lstStyle/>
                    <a:p>
                      <a:pPr algn="ctr">
                        <a:defRPr sz="1100" b="1">
                          <a:solidFill>
                            <a:srgbClr val="FFFFFF"/>
                          </a:solidFill>
                          <a:latin typeface="Times New Roman"/>
                        </a:defRPr>
                      </a:pPr>
                      <a:r>
                        <a:t>Tên Định Danh</a:t>
                      </a:r>
                    </a:p>
                  </a:txBody>
                  <a:tcPr>
                    <a:solidFill>
                      <a:srgbClr val="1E3A8A"/>
                    </a:solidFill>
                  </a:tcPr>
                </a:tc>
                <a:tc>
                  <a:txBody>
                    <a:bodyPr/>
                    <a:lstStyle/>
                    <a:p>
                      <a:pPr algn="ctr">
                        <a:defRPr sz="1100" b="1">
                          <a:solidFill>
                            <a:srgbClr val="FFFFFF"/>
                          </a:solidFill>
                          <a:latin typeface="Times New Roman"/>
                        </a:defRPr>
                      </a:pPr>
                      <a:r>
                        <a:t>Các Nhãn Gốc Gộp Thành</a:t>
                      </a:r>
                    </a:p>
                  </a:txBody>
                  <a:tcPr>
                    <a:solidFill>
                      <a:srgbClr val="1E3A8A"/>
                    </a:solidFill>
                  </a:tcPr>
                </a:tc>
                <a:tc>
                  <a:txBody>
                    <a:bodyPr/>
                    <a:lstStyle/>
                    <a:p>
                      <a:pPr algn="ctr">
                        <a:defRPr sz="1100" b="1">
                          <a:solidFill>
                            <a:srgbClr val="FFFFFF"/>
                          </a:solidFill>
                          <a:latin typeface="Times New Roman"/>
                        </a:defRPr>
                      </a:pPr>
                      <a:r>
                        <a:t>Bản Chất Ngữ Nghĩa &amp; Giá Trị Thực Tiễn</a:t>
                      </a:r>
                    </a:p>
                  </a:txBody>
                  <a:tcPr>
                    <a:solidFill>
                      <a:srgbClr val="1E3A8A"/>
                    </a:solidFill>
                  </a:tcPr>
                </a:tc>
              </a:tr>
              <a:tr h="571500">
                <a:tc>
                  <a:txBody>
                    <a:bodyPr/>
                    <a:lstStyle/>
                    <a:p>
                      <a:pPr algn="l">
                        <a:defRPr sz="1050" b="0">
                          <a:solidFill>
                            <a:srgbClr val="0F172A"/>
                          </a:solidFill>
                          <a:latin typeface="Times New Roman"/>
                        </a:defRPr>
                      </a:pPr>
                      <a:r>
                        <a:t>Nhãn 0</a:t>
                      </a:r>
                    </a:p>
                  </a:txBody>
                  <a:tcPr>
                    <a:solidFill>
                      <a:srgbClr val="FFFFFF"/>
                    </a:solidFill>
                  </a:tcPr>
                </a:tc>
                <a:tc>
                  <a:txBody>
                    <a:bodyPr/>
                    <a:lstStyle/>
                    <a:p>
                      <a:pPr algn="l">
                        <a:defRPr sz="1050" b="0">
                          <a:solidFill>
                            <a:srgbClr val="0F172A"/>
                          </a:solidFill>
                          <a:latin typeface="Times New Roman"/>
                        </a:defRPr>
                      </a:pPr>
                      <a:r>
                        <a:t>0: FALSE</a:t>
                      </a:r>
                    </a:p>
                    <a:p>
                      <a:r>
                        <a:t>(Sai sự thật)</a:t>
                      </a:r>
                    </a:p>
                  </a:txBody>
                  <a:tcPr>
                    <a:solidFill>
                      <a:srgbClr val="FFFFFF"/>
                    </a:solidFill>
                  </a:tcPr>
                </a:tc>
                <a:tc>
                  <a:txBody>
                    <a:bodyPr/>
                    <a:lstStyle/>
                    <a:p>
                      <a:pPr algn="ctr">
                        <a:defRPr sz="1050" b="0">
                          <a:solidFill>
                            <a:srgbClr val="0F172A"/>
                          </a:solidFill>
                          <a:latin typeface="Times New Roman"/>
                        </a:defRPr>
                      </a:pPr>
                      <a:r>
                        <a:t>pants-fire, false,</a:t>
                      </a:r>
                    </a:p>
                    <a:p>
                      <a:r>
                        <a:t>barely-true</a:t>
                      </a:r>
                    </a:p>
                  </a:txBody>
                  <a:tcPr>
                    <a:solidFill>
                      <a:srgbClr val="FFFFFF"/>
                    </a:solidFill>
                  </a:tcPr>
                </a:tc>
                <a:tc>
                  <a:txBody>
                    <a:bodyPr/>
                    <a:lstStyle/>
                    <a:p>
                      <a:pPr algn="ctr">
                        <a:defRPr sz="1050" b="0">
                          <a:solidFill>
                            <a:srgbClr val="0F172A"/>
                          </a:solidFill>
                          <a:latin typeface="Times New Roman"/>
                        </a:defRPr>
                      </a:pPr>
                      <a:r>
                        <a:t>Tin giả, bịa đặt, sai lệch nghiêm trọng.</a:t>
                      </a:r>
                    </a:p>
                    <a:p>
                      <a:r>
                        <a:t>Cần gắn cờ cảnh báo đỏ người dùng ngay lập tức.</a:t>
                      </a:r>
                    </a:p>
                  </a:txBody>
                  <a:tcPr>
                    <a:solidFill>
                      <a:srgbClr val="FFFFFF"/>
                    </a:solidFill>
                  </a:tcPr>
                </a:tc>
              </a:tr>
              <a:tr h="571500">
                <a:tc>
                  <a:txBody>
                    <a:bodyPr/>
                    <a:lstStyle/>
                    <a:p>
                      <a:pPr algn="l">
                        <a:defRPr sz="1050" b="0">
                          <a:solidFill>
                            <a:srgbClr val="0F172A"/>
                          </a:solidFill>
                          <a:latin typeface="Times New Roman"/>
                        </a:defRPr>
                      </a:pPr>
                      <a:r>
                        <a:t>Nhãn 1</a:t>
                      </a:r>
                    </a:p>
                  </a:txBody>
                  <a:tcPr>
                    <a:solidFill>
                      <a:srgbClr val="F1F5F9"/>
                    </a:solidFill>
                  </a:tcPr>
                </a:tc>
                <a:tc>
                  <a:txBody>
                    <a:bodyPr/>
                    <a:lstStyle/>
                    <a:p>
                      <a:pPr algn="l">
                        <a:defRPr sz="1050" b="0">
                          <a:solidFill>
                            <a:srgbClr val="0F172A"/>
                          </a:solidFill>
                          <a:latin typeface="Times New Roman"/>
                        </a:defRPr>
                      </a:pPr>
                      <a:r>
                        <a:t>1: MIXED</a:t>
                      </a:r>
                    </a:p>
                    <a:p>
                      <a:r>
                        <a:t>(Lập lờ / Nửa đúng)</a:t>
                      </a:r>
                    </a:p>
                  </a:txBody>
                  <a:tcPr>
                    <a:solidFill>
                      <a:srgbClr val="F1F5F9"/>
                    </a:solidFill>
                  </a:tcPr>
                </a:tc>
                <a:tc>
                  <a:txBody>
                    <a:bodyPr/>
                    <a:lstStyle/>
                    <a:p>
                      <a:pPr algn="ctr">
                        <a:defRPr sz="1050" b="0">
                          <a:solidFill>
                            <a:srgbClr val="0F172A"/>
                          </a:solidFill>
                          <a:latin typeface="Times New Roman"/>
                        </a:defRPr>
                      </a:pPr>
                      <a:r>
                        <a:t>half-true</a:t>
                      </a:r>
                    </a:p>
                  </a:txBody>
                  <a:tcPr>
                    <a:solidFill>
                      <a:srgbClr val="F1F5F9"/>
                    </a:solidFill>
                  </a:tcPr>
                </a:tc>
                <a:tc>
                  <a:txBody>
                    <a:bodyPr/>
                    <a:lstStyle/>
                    <a:p>
                      <a:pPr algn="ctr">
                        <a:defRPr sz="1050" b="0">
                          <a:solidFill>
                            <a:srgbClr val="0F172A"/>
                          </a:solidFill>
                          <a:latin typeface="Times New Roman"/>
                        </a:defRPr>
                      </a:pPr>
                      <a:r>
                        <a:t>Phát biểu lập lờ, nói đúng một nửa, thổi phồng hoặc</a:t>
                      </a:r>
                    </a:p>
                    <a:p>
                      <a:r>
                        <a:t>thần thánh hóa bối cảnh. Cần đính kèm giải trình bổ sung.</a:t>
                      </a:r>
                    </a:p>
                  </a:txBody>
                  <a:tcPr>
                    <a:solidFill>
                      <a:srgbClr val="F1F5F9"/>
                    </a:solidFill>
                  </a:tcPr>
                </a:tc>
              </a:tr>
              <a:tr h="571500">
                <a:tc>
                  <a:txBody>
                    <a:bodyPr/>
                    <a:lstStyle/>
                    <a:p>
                      <a:pPr algn="l">
                        <a:defRPr sz="1050" b="0">
                          <a:solidFill>
                            <a:srgbClr val="0F172A"/>
                          </a:solidFill>
                          <a:latin typeface="Times New Roman"/>
                        </a:defRPr>
                      </a:pPr>
                      <a:r>
                        <a:t>Nhãn 2</a:t>
                      </a:r>
                    </a:p>
                  </a:txBody>
                  <a:tcPr>
                    <a:solidFill>
                      <a:srgbClr val="FFFFFF"/>
                    </a:solidFill>
                  </a:tcPr>
                </a:tc>
                <a:tc>
                  <a:txBody>
                    <a:bodyPr/>
                    <a:lstStyle/>
                    <a:p>
                      <a:pPr algn="l">
                        <a:defRPr sz="1050" b="0">
                          <a:solidFill>
                            <a:srgbClr val="0F172A"/>
                          </a:solidFill>
                          <a:latin typeface="Times New Roman"/>
                        </a:defRPr>
                      </a:pPr>
                      <a:r>
                        <a:t>2: TRUE</a:t>
                      </a:r>
                    </a:p>
                    <a:p>
                      <a:r>
                        <a:t>(Đúng sự thật)</a:t>
                      </a:r>
                    </a:p>
                  </a:txBody>
                  <a:tcPr>
                    <a:solidFill>
                      <a:srgbClr val="FFFFFF"/>
                    </a:solidFill>
                  </a:tcPr>
                </a:tc>
                <a:tc>
                  <a:txBody>
                    <a:bodyPr/>
                    <a:lstStyle/>
                    <a:p>
                      <a:pPr algn="ctr">
                        <a:defRPr sz="1050" b="0">
                          <a:solidFill>
                            <a:srgbClr val="0F172A"/>
                          </a:solidFill>
                          <a:latin typeface="Times New Roman"/>
                        </a:defRPr>
                      </a:pPr>
                      <a:r>
                        <a:t>mostly-true,</a:t>
                      </a:r>
                    </a:p>
                    <a:p>
                      <a:r>
                        <a:t>true</a:t>
                      </a:r>
                    </a:p>
                  </a:txBody>
                  <a:tcPr>
                    <a:solidFill>
                      <a:srgbClr val="FFFFFF"/>
                    </a:solidFill>
                  </a:tcPr>
                </a:tc>
                <a:tc>
                  <a:txBody>
                    <a:bodyPr/>
                    <a:lstStyle/>
                    <a:p>
                      <a:pPr algn="ctr">
                        <a:defRPr sz="1050" b="0">
                          <a:solidFill>
                            <a:srgbClr val="0F172A"/>
                          </a:solidFill>
                          <a:latin typeface="Times New Roman"/>
                        </a:defRPr>
                      </a:pPr>
                      <a:r>
                        <a:t>Phát biểu chính xác khách quan, có kiểm chứng thực tế.</a:t>
                      </a:r>
                    </a:p>
                    <a:p>
                      <a:r>
                        <a:t>Được dán nhãn thông tin tin cậy, an toàn để phổ biến.</a:t>
                      </a:r>
                    </a:p>
                  </a:txBody>
                  <a:tcPr>
                    <a:solidFill>
                      <a:srgbClr val="FFFFFF"/>
                    </a:solidFill>
                  </a:tcPr>
                </a:tc>
              </a:tr>
            </a:tbl>
          </a:graphicData>
        </a:graphic>
      </p:graphicFrame>
      <p:sp>
        <p:nvSpPr>
          <p:cNvPr id="10" name="Rounded Rectangle 9"/>
          <p:cNvSpPr/>
          <p:nvPr/>
        </p:nvSpPr>
        <p:spPr>
          <a:xfrm>
            <a:off x="731520" y="3931920"/>
            <a:ext cx="1069848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Ý NGHĨA KHOA HỌC CỦA CHIẾN LƯỢC GỘP NHÃN</a:t>
            </a:r>
          </a:p>
          <a:p>
            <a:pPr>
              <a:spcAft>
                <a:spcPts val="600"/>
              </a:spcAft>
              <a:defRPr sz="1150">
                <a:solidFill>
                  <a:srgbClr val="0F172A"/>
                </a:solidFill>
                <a:latin typeface="Times New Roman"/>
              </a:defRPr>
            </a:pPr>
            <a:r>
              <a:t>• Khắc phục nhược điểm phân mảnh dữ liệu của bài toán 6 lớp gốc (vốn có độ chính xác chỉ quanh quẩn 25% - 35% ở các nghiên cứu trước).</a:t>
            </a:r>
          </a:p>
          <a:p>
            <a:pPr>
              <a:spcAft>
                <a:spcPts val="600"/>
              </a:spcAft>
              <a:defRPr sz="1150">
                <a:solidFill>
                  <a:srgbClr val="0F172A"/>
                </a:solidFill>
                <a:latin typeface="Times New Roman"/>
              </a:defRPr>
            </a:pPr>
            <a:r>
              <a:t>• Phù hợp với tâm lý tiếp nhận thông tin của người dùng và quy trình nghiệp vụ kiểm duyệt tin tức trên các nền tảng mạng xã hội hiện đại.</a:t>
            </a:r>
          </a:p>
          <a:p>
            <a:pPr>
              <a:spcAft>
                <a:spcPts val="600"/>
              </a:spcAft>
              <a:defRPr sz="1150">
                <a:solidFill>
                  <a:srgbClr val="0F172A"/>
                </a:solidFill>
                <a:latin typeface="Times New Roman"/>
              </a:defRPr>
            </a:pPr>
            <a:r>
              <a:t>• Thiết lập bài toán phân loại thứ bậc (Ordinal Classification): Nhóm 0 (Sai tuyệt đối) &lt; Nhóm 1 (Lập lờ) &lt; Nhóm 2 (Đúng sự thật), cho phép đánh giá độ nghiêm trọng của lỗi dự đoán.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1.6. TIỀN XỬ LÝ VĂN BẢN NLP CHUẨN FACT-CHECKING</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08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4 BƯỚC TIỀN XỬ LÝ VĂN BẢN ĐỘC QUYỀN</a:t>
            </a:r>
          </a:p>
          <a:p>
            <a:pPr>
              <a:spcAft>
                <a:spcPts val="600"/>
              </a:spcAft>
              <a:defRPr sz="1150">
                <a:solidFill>
                  <a:srgbClr val="0F172A"/>
                </a:solidFill>
                <a:latin typeface="Times New Roman"/>
              </a:defRPr>
            </a:pPr>
            <a:r>
              <a:t>• 1. Chuẩn hóa Chữ thường (Lowercasing): Đưa toàn bộ về chữ thường sau khi đã trích xuất đặc trưng all_caps_ratio, tránh phân mảnh từ vựng.</a:t>
            </a:r>
          </a:p>
          <a:p>
            <a:pPr>
              <a:spcAft>
                <a:spcPts val="600"/>
              </a:spcAft>
              <a:defRPr sz="1150">
                <a:solidFill>
                  <a:srgbClr val="0F172A"/>
                </a:solidFill>
                <a:latin typeface="Times New Roman"/>
              </a:defRPr>
            </a:pPr>
            <a:r>
              <a:t>• 2. Mở rộng Từ viết tắt (Contraction Expansion): Xây dựng từ điển giải nén &gt;30 cụm từ: can't -&gt; cannot, won't -&gt; will not, didn't -&gt; did not... Tránh việc dấu nháy đơn (') bị xóa biến từ thành mảnh rác vô nghĩa ('can', 't').</a:t>
            </a:r>
          </a:p>
          <a:p>
            <a:pPr>
              <a:spcAft>
                <a:spcPts val="600"/>
              </a:spcAft>
              <a:defRPr sz="1150">
                <a:solidFill>
                  <a:srgbClr val="0F172A"/>
                </a:solidFill>
                <a:latin typeface="Times New Roman"/>
              </a:defRPr>
            </a:pPr>
            <a:r>
              <a:t>• 3. Làm sạch Regex: Xóa mã HTML (&amp;amp;, &amp;quot;), đường dẫn URL, ký tự đặc biệt, chỉ giữ lại chữ cái, số và khoảng trắng đơn.</a:t>
            </a:r>
          </a:p>
          <a:p>
            <a:pPr>
              <a:spcAft>
                <a:spcPts val="600"/>
              </a:spcAft>
              <a:defRPr sz="1150">
                <a:solidFill>
                  <a:srgbClr val="0F172A"/>
                </a:solidFill>
                <a:latin typeface="Times New Roman"/>
              </a:defRPr>
            </a:pPr>
            <a:r>
              <a:t>• 4. BẢO TỒN TỪ PHỦ ĐỊNH: Không xóa stopwords hoặc loại trừ tuyệt đối: 'not', 'no', 'never', 'without', 'against' khỏi danh sách loại bỏ. Đây là nguyên tắc sống còn của kiểm chứng tin tức!</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VÍ DỤ PHẢN BIỆN: MẤT PHỦ ĐỊNH = ĐẢO NGƯỢC NGHĨA!</a:t>
            </a:r>
          </a:p>
          <a:p>
            <a:pPr>
              <a:spcAft>
                <a:spcPts val="600"/>
              </a:spcAft>
              <a:defRPr sz="1150">
                <a:solidFill>
                  <a:srgbClr val="0F172A"/>
                </a:solidFill>
                <a:latin typeface="Times New Roman"/>
              </a:defRPr>
            </a:pPr>
            <a:r>
              <a:t>• Câu phát biểu gốc của chính trị gia:</a:t>
            </a:r>
          </a:p>
          <a:p>
            <a:pPr>
              <a:spcAft>
                <a:spcPts val="600"/>
              </a:spcAft>
              <a:defRPr sz="1150">
                <a:solidFill>
                  <a:srgbClr val="0F172A"/>
                </a:solidFill>
                <a:latin typeface="Times New Roman"/>
              </a:defRPr>
            </a:pPr>
            <a:r>
              <a:t>•   'Obama did not raise taxes and will not support it!'</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Tiền xử lý thông thường (Xóa toàn bộ Stopwords):</a:t>
            </a:r>
          </a:p>
          <a:p>
            <a:pPr>
              <a:spcAft>
                <a:spcPts val="600"/>
              </a:spcAft>
              <a:defRPr sz="1150">
                <a:solidFill>
                  <a:srgbClr val="0F172A"/>
                </a:solidFill>
                <a:latin typeface="Times New Roman"/>
              </a:defRPr>
            </a:pPr>
            <a:r>
              <a:t>•   -&gt; Kết quả thu được: 'obama raise taxes support'</a:t>
            </a:r>
          </a:p>
          <a:p>
            <a:pPr>
              <a:spcAft>
                <a:spcPts val="600"/>
              </a:spcAft>
              <a:defRPr sz="1150">
                <a:solidFill>
                  <a:srgbClr val="0F172A"/>
                </a:solidFill>
                <a:latin typeface="Times New Roman"/>
              </a:defRPr>
            </a:pPr>
            <a:r>
              <a:t>•   =&gt; MẤT CHỮ 'NOT' BIẾN CÂU NÓI THÀNH 'OBAMA TĂNG THUẾ'</a:t>
            </a:r>
          </a:p>
          <a:p>
            <a:pPr>
              <a:spcAft>
                <a:spcPts val="600"/>
              </a:spcAft>
              <a:defRPr sz="1150">
                <a:solidFill>
                  <a:srgbClr val="0F172A"/>
                </a:solidFill>
                <a:latin typeface="Times New Roman"/>
              </a:defRPr>
            </a:pPr>
            <a:r>
              <a:t>•   =&gt; ĐẢO NGƯỢC 180 ĐỘ CHÂN LÝ, BIẾN TIN THẬT THÀNH TIN GIẢ!</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Tiền xử lý Fact-Checking của Nhóm:</a:t>
            </a:r>
          </a:p>
          <a:p>
            <a:pPr>
              <a:spcAft>
                <a:spcPts val="600"/>
              </a:spcAft>
              <a:defRPr sz="1150">
                <a:solidFill>
                  <a:srgbClr val="0F172A"/>
                </a:solidFill>
                <a:latin typeface="Times New Roman"/>
              </a:defRPr>
            </a:pPr>
            <a:r>
              <a:t>•   -&gt; Kết quả: 'obama did not raise taxes and will not support it'</a:t>
            </a:r>
          </a:p>
          <a:p>
            <a:pPr>
              <a:spcAft>
                <a:spcPts val="600"/>
              </a:spcAft>
              <a:defRPr sz="1150">
                <a:solidFill>
                  <a:srgbClr val="0F172A"/>
                </a:solidFill>
                <a:latin typeface="Times New Roman"/>
              </a:defRPr>
            </a:pPr>
            <a:r>
              <a:t>•   =&gt; BẢO TỒN NGUYÊN VẸN TÍNH PHỦ ĐỊNH, GIỮ TRỌN VẸN SỰ THẬT KHÁCH QUAN!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2000" b="1">
                <a:solidFill>
                  <a:srgbClr val="2563EB"/>
                </a:solidFill>
                <a:latin typeface="Times New Roman"/>
              </a:defRPr>
            </a:pPr>
            <a:r>
              <a:t>CHƯƠNG 2</a:t>
            </a:r>
          </a:p>
          <a:p>
            <a:pPr>
              <a:spcBef>
                <a:spcPts val="1000"/>
              </a:spcBef>
              <a:defRPr sz="3200" b="1">
                <a:solidFill>
                  <a:srgbClr val="FFFFFF"/>
                </a:solidFill>
                <a:latin typeface="Times New Roman"/>
              </a:defRPr>
            </a:pPr>
            <a:r>
              <a:t>KỸ THUẬT KỸ SƯ ĐẶC TRƯNG ĐA CHIỀU</a:t>
            </a:r>
            <a:br/>
            <a:r>
              <a:t>(MULTI-FEATURE ENGINEERING)</a:t>
            </a:r>
          </a:p>
          <a:p>
            <a:pPr>
              <a:spcBef>
                <a:spcPts val="1600"/>
              </a:spcBef>
              <a:defRPr sz="1500">
                <a:solidFill>
                  <a:srgbClr val="94A3B8"/>
                </a:solidFill>
                <a:latin typeface="Times New Roman"/>
              </a:defRPr>
            </a:pPr>
            <a:r>
              <a:t>Kiến trúc 3 trụ cột: Cú pháp giật gân, Uy tín người nói &amp; Hợp nhất văn bản đa ngữ cảnh 25.013 chiều</a:t>
            </a:r>
          </a:p>
        </p:txBody>
      </p:sp>
      <p:sp>
        <p:nvSpPr>
          <p:cNvPr id="4" name="Rectangle 3"/>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6" name="TextBox 5"/>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09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2.1. ĐẶT VẤN ĐỀ &amp; KIẾN TRÚC 3 TRỤ CỘT ĐẶC TRƯNG</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10 / 32</a:t>
            </a:r>
          </a:p>
        </p:txBody>
      </p:sp>
      <p:sp>
        <p:nvSpPr>
          <p:cNvPr id="9" name="Rounded Rectangle 8"/>
          <p:cNvSpPr/>
          <p:nvPr/>
        </p:nvSpPr>
        <p:spPr>
          <a:xfrm>
            <a:off x="7315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TRỤ CỘT 1: CÚ PHÁP GIẬT GÂN</a:t>
            </a:r>
            <a:br/>
            <a:r>
              <a:t>(STYLOMETRICS)</a:t>
            </a:r>
          </a:p>
          <a:p>
            <a:pPr>
              <a:spcAft>
                <a:spcPts val="600"/>
              </a:spcAft>
              <a:defRPr sz="1150">
                <a:solidFill>
                  <a:srgbClr val="0F172A"/>
                </a:solidFill>
                <a:latin typeface="Times New Roman"/>
              </a:defRPr>
            </a:pPr>
            <a:r>
              <a:t>• Đo lường dấu hiệu kích động tâm lý và cảm xúc khẩn cấp của người viết tin giả.</a:t>
            </a:r>
          </a:p>
          <a:p>
            <a:pPr>
              <a:spcAft>
                <a:spcPts val="600"/>
              </a:spcAft>
              <a:defRPr sz="1150">
                <a:solidFill>
                  <a:srgbClr val="0F172A"/>
                </a:solidFill>
                <a:latin typeface="Times New Roman"/>
              </a:defRPr>
            </a:pPr>
            <a:r>
              <a:t>• Bao gồm: Tỷ lệ chữ viết hoa toàn bộ (All-caps), mật độ dấu chấm than (!), dấu chấm hỏi (?), mật độ số liệu định lượng và độ dài câu phát biểu.</a:t>
            </a:r>
          </a:p>
        </p:txBody>
      </p:sp>
      <p:sp>
        <p:nvSpPr>
          <p:cNvPr id="10" name="Rounded Rectangle 9"/>
          <p:cNvSpPr/>
          <p:nvPr/>
        </p:nvSpPr>
        <p:spPr>
          <a:xfrm>
            <a:off x="43891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TRỤ CỘT 2: UY TÍN NGƯỜI NÓI</a:t>
            </a:r>
            <a:br/>
            <a:r>
              <a:t>(SPEAKER CREDIBILITY)</a:t>
            </a:r>
          </a:p>
          <a:p>
            <a:pPr>
              <a:spcAft>
                <a:spcPts val="600"/>
              </a:spcAft>
              <a:defRPr sz="1150">
                <a:solidFill>
                  <a:srgbClr val="0F172A"/>
                </a:solidFill>
                <a:latin typeface="Times New Roman"/>
              </a:defRPr>
            </a:pPr>
            <a:r>
              <a:t>• Giải nén hồ sơ kiểm chứng quá khứ của chính trị gia thành 2 chỉ số thực nghiệm cốt lõi:</a:t>
            </a:r>
          </a:p>
          <a:p>
            <a:pPr>
              <a:spcAft>
                <a:spcPts val="600"/>
              </a:spcAft>
              <a:defRPr sz="1150">
                <a:solidFill>
                  <a:srgbClr val="0F172A"/>
                </a:solidFill>
                <a:latin typeface="Times New Roman"/>
              </a:defRPr>
            </a:pPr>
            <a:r>
              <a:t>• 1. Trust Score: Xác suất nói thật làm trơn Laplace.</a:t>
            </a:r>
          </a:p>
          <a:p>
            <a:pPr>
              <a:spcAft>
                <a:spcPts val="600"/>
              </a:spcAft>
              <a:defRPr sz="1150">
                <a:solidFill>
                  <a:srgbClr val="0F172A"/>
                </a:solidFill>
                <a:latin typeface="Times New Roman"/>
              </a:defRPr>
            </a:pPr>
            <a:r>
              <a:t>• 2. Net Truth: Thặng dư sự thật tích lũy phản ánh bản chất lịch sử phát ngôn.</a:t>
            </a:r>
          </a:p>
        </p:txBody>
      </p:sp>
      <p:sp>
        <p:nvSpPr>
          <p:cNvPr id="11" name="Rounded Rectangle 10"/>
          <p:cNvSpPr/>
          <p:nvPr/>
        </p:nvSpPr>
        <p:spPr>
          <a:xfrm>
            <a:off x="80467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TRỤ CỘT 3: VĂN BẢN ĐA NGỮ CẢNH</a:t>
            </a:r>
            <a:br/>
            <a:r>
              <a:t>(COMBINED TEXT)</a:t>
            </a:r>
          </a:p>
          <a:p>
            <a:pPr>
              <a:spcAft>
                <a:spcPts val="600"/>
              </a:spcAft>
              <a:defRPr sz="1150">
                <a:solidFill>
                  <a:srgbClr val="0F172A"/>
                </a:solidFill>
                <a:latin typeface="Times New Roman"/>
              </a:defRPr>
            </a:pPr>
            <a:r>
              <a:t>• Hợp nhất: Câu nói (Statement) + Người nói (Speaker) + Chủ đề (Subject) + Bối cảnh (Context) thành chuỗi thống nhất.</a:t>
            </a:r>
          </a:p>
          <a:p>
            <a:pPr>
              <a:spcAft>
                <a:spcPts val="600"/>
              </a:spcAft>
              <a:defRPr sz="1150">
                <a:solidFill>
                  <a:srgbClr val="0F172A"/>
                </a:solidFill>
                <a:latin typeface="Times New Roman"/>
              </a:defRPr>
            </a:pPr>
            <a:r>
              <a:t>• Cho phép TF-IDF N-gram (1, 2) tự động học các cụm tương tác ngữ nghĩa liên cột mà không cần sinh đặc trưng thủ công.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2.2. NHÓM ĐẶC TRƯNG CÚ PHÁP GIẬT GÂN (STYLOMETRICS)</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11 / 32</a:t>
            </a:r>
          </a:p>
        </p:txBody>
      </p:sp>
      <p:sp>
        <p:nvSpPr>
          <p:cNvPr id="9" name="Rounded Rectangle 8"/>
          <p:cNvSpPr/>
          <p:nvPr/>
        </p:nvSpPr>
        <p:spPr>
          <a:xfrm>
            <a:off x="731520" y="1463040"/>
            <a:ext cx="1069848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1150" b="1">
                <a:solidFill>
                  <a:srgbClr val="0F172A"/>
                </a:solidFill>
                <a:latin typeface="Times New Roman"/>
              </a:defRPr>
            </a:pPr>
            <a:r>
              <a:t>1. Tỷ lệ chữ Viết hoa Toàn bộ (All-Caps Ratio): All-Caps Ratio = (Số từ viết hoa toàn bộ có độ dài &gt; 1) / (Tổng số từ)</a:t>
            </a:r>
          </a:p>
          <a:p>
            <a:pPr>
              <a:defRPr sz="1050">
                <a:solidFill>
                  <a:srgbClr val="475569"/>
                </a:solidFill>
                <a:latin typeface="Times New Roman"/>
              </a:defRPr>
            </a:pPr>
            <a:r>
              <a:t>Hành vi 'hét vào mặt người đọc' trên mạng xã hội để lôi kéo sự chú ý. Chuẩn hóa theo độ dài câu và loại trừ đại từ nhân xưng 'I'.</a:t>
            </a:r>
          </a:p>
        </p:txBody>
      </p:sp>
      <p:sp>
        <p:nvSpPr>
          <p:cNvPr id="10" name="Rounded Rectangle 9"/>
          <p:cNvSpPr/>
          <p:nvPr/>
        </p:nvSpPr>
        <p:spPr>
          <a:xfrm>
            <a:off x="731520" y="2423160"/>
            <a:ext cx="1069848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1150" b="1">
                <a:solidFill>
                  <a:srgbClr val="0F172A"/>
                </a:solidFill>
                <a:latin typeface="Times New Roman"/>
              </a:defRPr>
            </a:pPr>
            <a:r>
              <a:t>2. Mật độ Dấu chấm than (!): Exclamation Count = Số lượng ký tự '!' xuất hiện trong phát biểu</a:t>
            </a:r>
          </a:p>
          <a:p>
            <a:pPr>
              <a:defRPr sz="1050">
                <a:solidFill>
                  <a:srgbClr val="475569"/>
                </a:solidFill>
                <a:latin typeface="Times New Roman"/>
              </a:defRPr>
            </a:pPr>
            <a:r>
              <a:t>Dấu hiệu điển hình của văn phong kích động, tạo cảm giác khẩn cấp giả tạo và kích hoạt tâm lý lo sợ hoặc phẫn nộ của công chúng.</a:t>
            </a:r>
          </a:p>
        </p:txBody>
      </p:sp>
      <p:sp>
        <p:nvSpPr>
          <p:cNvPr id="11" name="Rounded Rectangle 10"/>
          <p:cNvSpPr/>
          <p:nvPr/>
        </p:nvSpPr>
        <p:spPr>
          <a:xfrm>
            <a:off x="731520" y="3383280"/>
            <a:ext cx="1069848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1150" b="1">
                <a:solidFill>
                  <a:srgbClr val="0F172A"/>
                </a:solidFill>
                <a:latin typeface="Times New Roman"/>
              </a:defRPr>
            </a:pPr>
            <a:r>
              <a:t>3. Mật độ Dấu chấm hỏi (?): Question Count = Số lượng ký tự '?' xuất hiện trong phát biểu</a:t>
            </a:r>
          </a:p>
          <a:p>
            <a:pPr>
              <a:defRPr sz="1050">
                <a:solidFill>
                  <a:srgbClr val="475569"/>
                </a:solidFill>
                <a:latin typeface="Times New Roman"/>
              </a:defRPr>
            </a:pPr>
            <a:r>
              <a:t>Thủ thuật tung hỏa mù, đặt câu hỏi nghi vấn không căn cứ để định hướng dư luận mà không phải chịu trách nhiệm pháp lý trực tiếp.</a:t>
            </a:r>
          </a:p>
        </p:txBody>
      </p:sp>
      <p:sp>
        <p:nvSpPr>
          <p:cNvPr id="12" name="Rounded Rectangle 11"/>
          <p:cNvSpPr/>
          <p:nvPr/>
        </p:nvSpPr>
        <p:spPr>
          <a:xfrm>
            <a:off x="731520" y="4343400"/>
            <a:ext cx="1069848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1150" b="1">
                <a:solidFill>
                  <a:srgbClr val="0F172A"/>
                </a:solidFill>
                <a:latin typeface="Times New Roman"/>
              </a:defRPr>
            </a:pPr>
            <a:r>
              <a:t>4. Mật độ Số liệu Định lượng (Numbers Count): Numbers Count = len(re.findall(r'\b\d+(?:,\d+)*(?:\.\d+)?%?\b', statement))</a:t>
            </a:r>
          </a:p>
          <a:p>
            <a:pPr>
              <a:defRPr sz="1050">
                <a:solidFill>
                  <a:srgbClr val="475569"/>
                </a:solidFill>
                <a:latin typeface="Times New Roman"/>
              </a:defRPr>
            </a:pPr>
            <a:r>
              <a:t>Tin thật thường trích dẫn thống kê cụ thể, tỷ lệ phần trăm hoặc mốc năm chính xác để chứng minh luận điểm.</a:t>
            </a:r>
          </a:p>
        </p:txBody>
      </p:sp>
      <p:sp>
        <p:nvSpPr>
          <p:cNvPr id="13" name="Rounded Rectangle 12"/>
          <p:cNvSpPr/>
          <p:nvPr/>
        </p:nvSpPr>
        <p:spPr>
          <a:xfrm>
            <a:off x="731520" y="5303520"/>
            <a:ext cx="1069848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1150" b="1">
                <a:solidFill>
                  <a:srgbClr val="0F172A"/>
                </a:solidFill>
                <a:latin typeface="Times New Roman"/>
              </a:defRPr>
            </a:pPr>
            <a:r>
              <a:t>5. Độ dài Văn bản Phát biểu (Word Count): Word Count = Tổng số từ ngữ trong câu phát biểu nguyên bản</a:t>
            </a:r>
          </a:p>
          <a:p>
            <a:pPr>
              <a:defRPr sz="1050">
                <a:solidFill>
                  <a:srgbClr val="475569"/>
                </a:solidFill>
                <a:latin typeface="Times New Roman"/>
              </a:defRPr>
            </a:pPr>
            <a:r>
              <a:t>Tin giả và tin giật gân có xu hướng ngắn gọn, trực diện, kích thích thị giác nhanh hơn tin bài nghị sự nghiêm túc.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2.3. HỆ THỐNG CHỈ SỐ HÀNH VI UY TÍN NGƯỜI NÓI</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12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CHỈ SỐ TRUST SCORE (ĐIỂM UY TÍN LÀM TRƠN)</a:t>
            </a:r>
          </a:p>
          <a:p>
            <a:pPr>
              <a:spcAft>
                <a:spcPts val="600"/>
              </a:spcAft>
              <a:defRPr sz="1150">
                <a:solidFill>
                  <a:srgbClr val="0F172A"/>
                </a:solidFill>
                <a:latin typeface="Times New Roman"/>
              </a:defRPr>
            </a:pPr>
            <a:r>
              <a:t>• Công thức toán học:</a:t>
            </a:r>
          </a:p>
          <a:p>
            <a:pPr>
              <a:spcAft>
                <a:spcPts val="600"/>
              </a:spcAft>
              <a:defRPr sz="1150">
                <a:solidFill>
                  <a:srgbClr val="0F172A"/>
                </a:solidFill>
                <a:latin typeface="Times New Roman"/>
              </a:defRPr>
            </a:pPr>
            <a:r>
              <a:t>•   Trust Score = (mostly_true + true) / (total_history + 1.0)</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Vai trò của hằng số làm trơn Laplace (+1.0 tại mẫu số):</a:t>
            </a:r>
          </a:p>
          <a:p>
            <a:pPr>
              <a:spcAft>
                <a:spcPts val="600"/>
              </a:spcAft>
              <a:defRPr sz="1150">
                <a:solidFill>
                  <a:srgbClr val="0F172A"/>
                </a:solidFill>
                <a:latin typeface="Times New Roman"/>
              </a:defRPr>
            </a:pPr>
            <a:r>
              <a:t>•   1. Triệt tiêu lỗi chia cho 0: Khi một chính trị gia mới xuất hiện lần đầu tiên chưa có lịch sử (total_history = 0), mẫu số bằng 1.0, trả về điểm 0 an toàn thay vì crash chương trình.</a:t>
            </a:r>
          </a:p>
          <a:p>
            <a:pPr>
              <a:spcAft>
                <a:spcPts val="600"/>
              </a:spcAft>
              <a:defRPr sz="1150">
                <a:solidFill>
                  <a:srgbClr val="0F172A"/>
                </a:solidFill>
                <a:latin typeface="Times New Roman"/>
              </a:defRPr>
            </a:pPr>
            <a:r>
              <a:t>•   2. Tránh thiên vị cực đoan: Người nói thật 1 lần duy nhất nhận điểm 1 / (1 + 1) = 0.5 (mức trung dung), ngăn mô hình tin tưởng 100% vào người chưa đủ dữ liệu kiểm chứng.</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Đo lường xác suất khách quan: Thang đo liên tục từ 0.0 (hoàn toàn dối trá) đến 1.0 (uy tín tuyệt đối).</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CHỈ SỐ NET TRUTH (THẶNG DƯ SỰ THẬT TÍCH LŨY)</a:t>
            </a:r>
          </a:p>
          <a:p>
            <a:pPr>
              <a:spcAft>
                <a:spcPts val="600"/>
              </a:spcAft>
              <a:defRPr sz="1150">
                <a:solidFill>
                  <a:srgbClr val="0F172A"/>
                </a:solidFill>
                <a:latin typeface="Times New Roman"/>
              </a:defRPr>
            </a:pPr>
            <a:r>
              <a:t>• Công thức toán học:</a:t>
            </a:r>
          </a:p>
          <a:p>
            <a:pPr>
              <a:spcAft>
                <a:spcPts val="600"/>
              </a:spcAft>
              <a:defRPr sz="1150">
                <a:solidFill>
                  <a:srgbClr val="0F172A"/>
                </a:solidFill>
                <a:latin typeface="Times New Roman"/>
              </a:defRPr>
            </a:pPr>
            <a:r>
              <a:t>•   Net Truth = (mostly_true + true) - (pants_on_fire + false)</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Bản chất ngữ nghĩa &amp; thực nghiệm:</a:t>
            </a:r>
          </a:p>
          <a:p>
            <a:pPr>
              <a:spcAft>
                <a:spcPts val="600"/>
              </a:spcAft>
              <a:defRPr sz="1150">
                <a:solidFill>
                  <a:srgbClr val="0F172A"/>
                </a:solidFill>
                <a:latin typeface="Times New Roman"/>
              </a:defRPr>
            </a:pPr>
            <a:r>
              <a:t>•   • Đo lường giá trị thặng dư tích lũy giữa các phát biểu đáng tin và các phát biểu dối trá nghiêm trọng trong cả sự nghiệp.</a:t>
            </a:r>
          </a:p>
          <a:p>
            <a:pPr>
              <a:spcAft>
                <a:spcPts val="600"/>
              </a:spcAft>
              <a:defRPr sz="1150">
                <a:solidFill>
                  <a:srgbClr val="0F172A"/>
                </a:solidFill>
                <a:latin typeface="Times New Roman"/>
              </a:defRPr>
            </a:pPr>
            <a:r>
              <a:t>•   • Đặc thù PolitiFact: Chuyên kiểm chứng các câu nói gây tranh cãi nên phần lớn chính trị gia đều có Net Truth mang giá trị âm.</a:t>
            </a:r>
          </a:p>
          <a:p>
            <a:pPr>
              <a:spcAft>
                <a:spcPts val="600"/>
              </a:spcAft>
              <a:defRPr sz="1150">
                <a:solidFill>
                  <a:srgbClr val="0F172A"/>
                </a:solidFill>
                <a:latin typeface="Times New Roman"/>
              </a:defRPr>
            </a:pPr>
            <a:r>
              <a:t>•   • Phân hóa cực đại giữa các nhóm nhãn:</a:t>
            </a:r>
          </a:p>
          <a:p>
            <a:pPr>
              <a:spcAft>
                <a:spcPts val="600"/>
              </a:spcAft>
              <a:defRPr sz="1150">
                <a:solidFill>
                  <a:srgbClr val="0F172A"/>
                </a:solidFill>
                <a:latin typeface="Times New Roman"/>
              </a:defRPr>
            </a:pPr>
            <a:r>
              <a:t>•     - Nhóm FALSE: Net Truth trung bình là -540.3 (âm cực kỳ sâu).</a:t>
            </a:r>
          </a:p>
          <a:p>
            <a:pPr>
              <a:spcAft>
                <a:spcPts val="600"/>
              </a:spcAft>
              <a:defRPr sz="1150">
                <a:solidFill>
                  <a:srgbClr val="0F172A"/>
                </a:solidFill>
                <a:latin typeface="Times New Roman"/>
              </a:defRPr>
            </a:pPr>
            <a:r>
              <a:t>•     - Nhóm MIXED: Net Truth trung bình là -93.4.</a:t>
            </a:r>
          </a:p>
          <a:p>
            <a:pPr>
              <a:spcAft>
                <a:spcPts val="600"/>
              </a:spcAft>
              <a:defRPr sz="1150">
                <a:solidFill>
                  <a:srgbClr val="0F172A"/>
                </a:solidFill>
                <a:latin typeface="Times New Roman"/>
              </a:defRPr>
            </a:pPr>
            <a:r>
              <a:t>•     - Nhóm TRUE: Net Truth trung bình là -37.3 (ít âm nhất, gần mốc cân bằng).</a:t>
            </a:r>
          </a:p>
          <a:p>
            <a:pPr>
              <a:spcAft>
                <a:spcPts val="600"/>
              </a:spcAft>
              <a:defRPr sz="1150">
                <a:solidFill>
                  <a:srgbClr val="0F172A"/>
                </a:solidFill>
                <a:latin typeface="Times New Roman"/>
              </a:defRPr>
            </a:pPr>
            <a:r>
              <a:t>=&gt; Đóng vai trò là đường phân cách biên mạnh nhất cho thuật toán XGBoost.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2.4. BẢNG ĐỐI SÁNH THỰC NGHIỆM GIỮA 3 NHÓM NHÃN</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13 / 32</a:t>
            </a:r>
          </a:p>
        </p:txBody>
      </p:sp>
      <p:graphicFrame>
        <p:nvGraphicFramePr>
          <p:cNvPr id="9" name="Table 8"/>
          <p:cNvGraphicFramePr>
            <a:graphicFrameLocks noGrp="1"/>
          </p:cNvGraphicFramePr>
          <p:nvPr/>
        </p:nvGraphicFramePr>
        <p:xfrm>
          <a:off x="731520" y="1463040"/>
          <a:ext cx="10698480" cy="2286000"/>
        </p:xfrm>
        <a:graphic>
          <a:graphicData uri="http://schemas.openxmlformats.org/drawingml/2006/table">
            <a:tbl>
              <a:tblPr firstRow="1" bandRow="1">
                <a:tableStyleId>{5C22544A-7EE6-4342-B048-85BDC9FD1C3A}</a:tableStyleId>
              </a:tblPr>
              <a:tblGrid>
                <a:gridCol w="2926080"/>
                <a:gridCol w="1920240"/>
                <a:gridCol w="1920240"/>
                <a:gridCol w="1920240"/>
                <a:gridCol w="2011680"/>
              </a:tblGrid>
              <a:tr h="571500">
                <a:tc>
                  <a:txBody>
                    <a:bodyPr/>
                    <a:lstStyle/>
                    <a:p>
                      <a:pPr algn="ctr">
                        <a:defRPr sz="1100" b="1">
                          <a:solidFill>
                            <a:srgbClr val="FFFFFF"/>
                          </a:solidFill>
                          <a:latin typeface="Times New Roman"/>
                        </a:defRPr>
                      </a:pPr>
                      <a:r>
                        <a:t>Nhóm Nhãn Bản Chất</a:t>
                      </a:r>
                    </a:p>
                  </a:txBody>
                  <a:tcPr>
                    <a:solidFill>
                      <a:srgbClr val="1E3A8A"/>
                    </a:solidFill>
                  </a:tcPr>
                </a:tc>
                <a:tc>
                  <a:txBody>
                    <a:bodyPr/>
                    <a:lstStyle/>
                    <a:p>
                      <a:pPr algn="ctr">
                        <a:defRPr sz="1100" b="1">
                          <a:solidFill>
                            <a:srgbClr val="FFFFFF"/>
                          </a:solidFill>
                          <a:latin typeface="Times New Roman"/>
                        </a:defRPr>
                      </a:pPr>
                      <a:r>
                        <a:t>Tỷ lệ Chữ HOA</a:t>
                      </a:r>
                    </a:p>
                  </a:txBody>
                  <a:tcPr>
                    <a:solidFill>
                      <a:srgbClr val="1E3A8A"/>
                    </a:solidFill>
                  </a:tcPr>
                </a:tc>
                <a:tc>
                  <a:txBody>
                    <a:bodyPr/>
                    <a:lstStyle/>
                    <a:p>
                      <a:pPr algn="ctr">
                        <a:defRPr sz="1100" b="1">
                          <a:solidFill>
                            <a:srgbClr val="FFFFFF"/>
                          </a:solidFill>
                          <a:latin typeface="Times New Roman"/>
                        </a:defRPr>
                      </a:pPr>
                      <a:r>
                        <a:t>Dấu Chấm Than (!)</a:t>
                      </a:r>
                    </a:p>
                  </a:txBody>
                  <a:tcPr>
                    <a:solidFill>
                      <a:srgbClr val="1E3A8A"/>
                    </a:solidFill>
                  </a:tcPr>
                </a:tc>
                <a:tc>
                  <a:txBody>
                    <a:bodyPr/>
                    <a:lstStyle/>
                    <a:p>
                      <a:pPr algn="ctr">
                        <a:defRPr sz="1100" b="1">
                          <a:solidFill>
                            <a:srgbClr val="FFFFFF"/>
                          </a:solidFill>
                          <a:latin typeface="Times New Roman"/>
                        </a:defRPr>
                      </a:pPr>
                      <a:r>
                        <a:t>Điểm Uy Tín (Trust)</a:t>
                      </a:r>
                    </a:p>
                  </a:txBody>
                  <a:tcPr>
                    <a:solidFill>
                      <a:srgbClr val="1E3A8A"/>
                    </a:solidFill>
                  </a:tcPr>
                </a:tc>
                <a:tc>
                  <a:txBody>
                    <a:bodyPr/>
                    <a:lstStyle/>
                    <a:p>
                      <a:pPr algn="ctr">
                        <a:defRPr sz="1100" b="1">
                          <a:solidFill>
                            <a:srgbClr val="FFFFFF"/>
                          </a:solidFill>
                          <a:latin typeface="Times New Roman"/>
                        </a:defRPr>
                      </a:pPr>
                      <a:r>
                        <a:t>Thặng Dư (Net Truth)</a:t>
                      </a:r>
                    </a:p>
                  </a:txBody>
                  <a:tcPr>
                    <a:solidFill>
                      <a:srgbClr val="1E3A8A"/>
                    </a:solidFill>
                  </a:tcPr>
                </a:tc>
              </a:tr>
              <a:tr h="571500">
                <a:tc>
                  <a:txBody>
                    <a:bodyPr/>
                    <a:lstStyle/>
                    <a:p>
                      <a:pPr algn="l">
                        <a:defRPr sz="1050" b="0">
                          <a:solidFill>
                            <a:srgbClr val="0F172A"/>
                          </a:solidFill>
                          <a:latin typeface="Times New Roman"/>
                        </a:defRPr>
                      </a:pPr>
                      <a:r>
                        <a:t>0: FALSE (Sai sự thật)</a:t>
                      </a:r>
                    </a:p>
                  </a:txBody>
                  <a:tcPr>
                    <a:solidFill>
                      <a:srgbClr val="FFFFFF"/>
                    </a:solidFill>
                  </a:tcPr>
                </a:tc>
                <a:tc>
                  <a:txBody>
                    <a:bodyPr/>
                    <a:lstStyle/>
                    <a:p>
                      <a:pPr algn="l">
                        <a:defRPr sz="1050" b="0">
                          <a:solidFill>
                            <a:srgbClr val="0F172A"/>
                          </a:solidFill>
                          <a:latin typeface="Times New Roman"/>
                        </a:defRPr>
                      </a:pPr>
                      <a:r>
                        <a:t>0.0177 (Cao nhất ~1.9x)</a:t>
                      </a:r>
                    </a:p>
                  </a:txBody>
                  <a:tcPr>
                    <a:solidFill>
                      <a:srgbClr val="FFFFFF"/>
                    </a:solidFill>
                  </a:tcPr>
                </a:tc>
                <a:tc>
                  <a:txBody>
                    <a:bodyPr/>
                    <a:lstStyle/>
                    <a:p>
                      <a:pPr algn="ctr">
                        <a:defRPr sz="1050" b="0">
                          <a:solidFill>
                            <a:srgbClr val="0F172A"/>
                          </a:solidFill>
                          <a:latin typeface="Times New Roman"/>
                        </a:defRPr>
                      </a:pPr>
                      <a:r>
                        <a:t>0.0303 (Gấp ~7.8x)</a:t>
                      </a:r>
                    </a:p>
                  </a:txBody>
                  <a:tcPr>
                    <a:solidFill>
                      <a:srgbClr val="FFFFFF"/>
                    </a:solidFill>
                  </a:tcPr>
                </a:tc>
                <a:tc>
                  <a:txBody>
                    <a:bodyPr/>
                    <a:lstStyle/>
                    <a:p>
                      <a:pPr algn="ctr">
                        <a:defRPr sz="1050" b="0">
                          <a:solidFill>
                            <a:srgbClr val="0F172A"/>
                          </a:solidFill>
                          <a:latin typeface="Times New Roman"/>
                        </a:defRPr>
                      </a:pPr>
                      <a:r>
                        <a:t>0.1270 (Rất thấp)</a:t>
                      </a:r>
                    </a:p>
                  </a:txBody>
                  <a:tcPr>
                    <a:solidFill>
                      <a:srgbClr val="FFFFFF"/>
                    </a:solidFill>
                  </a:tcPr>
                </a:tc>
                <a:tc>
                  <a:txBody>
                    <a:bodyPr/>
                    <a:lstStyle/>
                    <a:p>
                      <a:pPr algn="ctr">
                        <a:defRPr sz="1050" b="0">
                          <a:solidFill>
                            <a:srgbClr val="0F172A"/>
                          </a:solidFill>
                          <a:latin typeface="Times New Roman"/>
                        </a:defRPr>
                      </a:pPr>
                      <a:r>
                        <a:t>-540.3 (Âm cực sâu)</a:t>
                      </a:r>
                    </a:p>
                  </a:txBody>
                  <a:tcPr>
                    <a:solidFill>
                      <a:srgbClr val="FFFFFF"/>
                    </a:solidFill>
                  </a:tcPr>
                </a:tc>
              </a:tr>
              <a:tr h="571500">
                <a:tc>
                  <a:txBody>
                    <a:bodyPr/>
                    <a:lstStyle/>
                    <a:p>
                      <a:pPr algn="l">
                        <a:defRPr sz="1050" b="0">
                          <a:solidFill>
                            <a:srgbClr val="0F172A"/>
                          </a:solidFill>
                          <a:latin typeface="Times New Roman"/>
                        </a:defRPr>
                      </a:pPr>
                      <a:r>
                        <a:t>1: MIXED (Lập lờ / Nửa đúng)</a:t>
                      </a:r>
                    </a:p>
                  </a:txBody>
                  <a:tcPr>
                    <a:solidFill>
                      <a:srgbClr val="F1F5F9"/>
                    </a:solidFill>
                  </a:tcPr>
                </a:tc>
                <a:tc>
                  <a:txBody>
                    <a:bodyPr/>
                    <a:lstStyle/>
                    <a:p>
                      <a:pPr algn="l">
                        <a:defRPr sz="1050" b="0">
                          <a:solidFill>
                            <a:srgbClr val="0F172A"/>
                          </a:solidFill>
                          <a:latin typeface="Times New Roman"/>
                        </a:defRPr>
                      </a:pPr>
                      <a:r>
                        <a:t>0.0091 (Thấp nhất)</a:t>
                      </a:r>
                    </a:p>
                  </a:txBody>
                  <a:tcPr>
                    <a:solidFill>
                      <a:srgbClr val="F1F5F9"/>
                    </a:solidFill>
                  </a:tcPr>
                </a:tc>
                <a:tc>
                  <a:txBody>
                    <a:bodyPr/>
                    <a:lstStyle/>
                    <a:p>
                      <a:pPr algn="ctr">
                        <a:defRPr sz="1050" b="0">
                          <a:solidFill>
                            <a:srgbClr val="0F172A"/>
                          </a:solidFill>
                          <a:latin typeface="Times New Roman"/>
                        </a:defRPr>
                      </a:pPr>
                      <a:r>
                        <a:t>0.0094 (Trung bình)</a:t>
                      </a:r>
                    </a:p>
                  </a:txBody>
                  <a:tcPr>
                    <a:solidFill>
                      <a:srgbClr val="F1F5F9"/>
                    </a:solidFill>
                  </a:tcPr>
                </a:tc>
                <a:tc>
                  <a:txBody>
                    <a:bodyPr/>
                    <a:lstStyle/>
                    <a:p>
                      <a:pPr algn="ctr">
                        <a:defRPr sz="1050" b="0">
                          <a:solidFill>
                            <a:srgbClr val="0F172A"/>
                          </a:solidFill>
                          <a:latin typeface="Times New Roman"/>
                        </a:defRPr>
                      </a:pPr>
                      <a:r>
                        <a:t>0.2371 (Trung bình)</a:t>
                      </a:r>
                    </a:p>
                  </a:txBody>
                  <a:tcPr>
                    <a:solidFill>
                      <a:srgbClr val="F1F5F9"/>
                    </a:solidFill>
                  </a:tcPr>
                </a:tc>
                <a:tc>
                  <a:txBody>
                    <a:bodyPr/>
                    <a:lstStyle/>
                    <a:p>
                      <a:pPr algn="ctr">
                        <a:defRPr sz="1050" b="0">
                          <a:solidFill>
                            <a:srgbClr val="0F172A"/>
                          </a:solidFill>
                          <a:latin typeface="Times New Roman"/>
                        </a:defRPr>
                      </a:pPr>
                      <a:r>
                        <a:t>-93.4 (Âm trung bình)</a:t>
                      </a:r>
                    </a:p>
                  </a:txBody>
                  <a:tcPr>
                    <a:solidFill>
                      <a:srgbClr val="F1F5F9"/>
                    </a:solidFill>
                  </a:tcPr>
                </a:tc>
              </a:tr>
              <a:tr h="571500">
                <a:tc>
                  <a:txBody>
                    <a:bodyPr/>
                    <a:lstStyle/>
                    <a:p>
                      <a:pPr algn="l">
                        <a:defRPr sz="1050" b="0">
                          <a:solidFill>
                            <a:srgbClr val="0F172A"/>
                          </a:solidFill>
                          <a:latin typeface="Times New Roman"/>
                        </a:defRPr>
                      </a:pPr>
                      <a:r>
                        <a:t>2: TRUE (Đúng sự thật)</a:t>
                      </a:r>
                    </a:p>
                  </a:txBody>
                  <a:tcPr>
                    <a:solidFill>
                      <a:srgbClr val="FFFFFF"/>
                    </a:solidFill>
                  </a:tcPr>
                </a:tc>
                <a:tc>
                  <a:txBody>
                    <a:bodyPr/>
                    <a:lstStyle/>
                    <a:p>
                      <a:pPr algn="l">
                        <a:defRPr sz="1050" b="0">
                          <a:solidFill>
                            <a:srgbClr val="0F172A"/>
                          </a:solidFill>
                          <a:latin typeface="Times New Roman"/>
                        </a:defRPr>
                      </a:pPr>
                      <a:r>
                        <a:t>0.0092 (Thấp)</a:t>
                      </a:r>
                    </a:p>
                  </a:txBody>
                  <a:tcPr>
                    <a:solidFill>
                      <a:srgbClr val="FFFFFF"/>
                    </a:solidFill>
                  </a:tcPr>
                </a:tc>
                <a:tc>
                  <a:txBody>
                    <a:bodyPr/>
                    <a:lstStyle/>
                    <a:p>
                      <a:pPr algn="ctr">
                        <a:defRPr sz="1050" b="0">
                          <a:solidFill>
                            <a:srgbClr val="0F172A"/>
                          </a:solidFill>
                          <a:latin typeface="Times New Roman"/>
                        </a:defRPr>
                      </a:pPr>
                      <a:r>
                        <a:t>0.0039 (Thấp nhất)</a:t>
                      </a:r>
                    </a:p>
                  </a:txBody>
                  <a:tcPr>
                    <a:solidFill>
                      <a:srgbClr val="FFFFFF"/>
                    </a:solidFill>
                  </a:tcPr>
                </a:tc>
                <a:tc>
                  <a:txBody>
                    <a:bodyPr/>
                    <a:lstStyle/>
                    <a:p>
                      <a:pPr algn="ctr">
                        <a:defRPr sz="1050" b="0">
                          <a:solidFill>
                            <a:srgbClr val="0F172A"/>
                          </a:solidFill>
                          <a:latin typeface="Times New Roman"/>
                        </a:defRPr>
                      </a:pPr>
                      <a:r>
                        <a:t>0.4207 (Cao nhất gấp 3.3x)</a:t>
                      </a:r>
                    </a:p>
                  </a:txBody>
                  <a:tcPr>
                    <a:solidFill>
                      <a:srgbClr val="FFFFFF"/>
                    </a:solidFill>
                  </a:tcPr>
                </a:tc>
                <a:tc>
                  <a:txBody>
                    <a:bodyPr/>
                    <a:lstStyle/>
                    <a:p>
                      <a:pPr algn="ctr">
                        <a:defRPr sz="1050" b="0">
                          <a:solidFill>
                            <a:srgbClr val="0F172A"/>
                          </a:solidFill>
                          <a:latin typeface="Times New Roman"/>
                        </a:defRPr>
                      </a:pPr>
                      <a:r>
                        <a:t>-37.3 (Ít âm nhất)</a:t>
                      </a:r>
                    </a:p>
                  </a:txBody>
                  <a:tcPr>
                    <a:solidFill>
                      <a:srgbClr val="FFFFFF"/>
                    </a:solidFill>
                  </a:tcPr>
                </a:tc>
              </a:tr>
            </a:tbl>
          </a:graphicData>
        </a:graphic>
      </p:graphicFrame>
      <p:sp>
        <p:nvSpPr>
          <p:cNvPr id="10" name="Rounded Rectangle 9"/>
          <p:cNvSpPr/>
          <p:nvPr/>
        </p:nvSpPr>
        <p:spPr>
          <a:xfrm>
            <a:off x="731520" y="3931920"/>
            <a:ext cx="1069848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NHẬN XÉT PHÂN TÍCH ĐỐI SÁNH THỐNG KÊ</a:t>
            </a:r>
          </a:p>
          <a:p>
            <a:pPr>
              <a:spcAft>
                <a:spcPts val="600"/>
              </a:spcAft>
              <a:defRPr sz="1150">
                <a:solidFill>
                  <a:srgbClr val="0F172A"/>
                </a:solidFill>
                <a:latin typeface="Times New Roman"/>
              </a:defRPr>
            </a:pPr>
            <a:r>
              <a:t>• 1. Chữ viết hoa: Nhóm FALSE có tỷ lệ 0.0177, cao gần gấp 2 lần nhóm TRUE (0.0092), minh chứng rõ rệt thói quen dùng chữ in hoa để kích động sự chú ý.</a:t>
            </a:r>
          </a:p>
          <a:p>
            <a:pPr>
              <a:spcAft>
                <a:spcPts val="600"/>
              </a:spcAft>
              <a:defRPr sz="1150">
                <a:solidFill>
                  <a:srgbClr val="0F172A"/>
                </a:solidFill>
                <a:latin typeface="Times New Roman"/>
              </a:defRPr>
            </a:pPr>
            <a:r>
              <a:t>• 2. Dấu chấm than: Nhóm FALSE (0.0303) áp đảo gấp 7.8 lần nhóm TRUE (0.0039), phản ánh tính chất giật gân, khẩn cấp giả tạo của tin độc hại.</a:t>
            </a:r>
          </a:p>
          <a:p>
            <a:pPr>
              <a:spcAft>
                <a:spcPts val="600"/>
              </a:spcAft>
              <a:defRPr sz="1150">
                <a:solidFill>
                  <a:srgbClr val="0F172A"/>
                </a:solidFill>
                <a:latin typeface="Times New Roman"/>
              </a:defRPr>
            </a:pPr>
            <a:r>
              <a:t>• 3. Điểm uy tín Trust Score: Nhóm TRUE đạt 0.4207, gấp hơn 3.3 lần nhóm FALSE (0.1270). Đây là tiêu chí vàng giúp các thuật toán cây quyết định lọc tin giả.</a:t>
            </a:r>
          </a:p>
          <a:p>
            <a:pPr>
              <a:spcAft>
                <a:spcPts val="600"/>
              </a:spcAft>
              <a:defRPr sz="1150">
                <a:solidFill>
                  <a:srgbClr val="0F172A"/>
                </a:solidFill>
                <a:latin typeface="Times New Roman"/>
              </a:defRPr>
            </a:pPr>
            <a:r>
              <a:t>• 4. Chỉ số Net Truth: Nhóm TRUE (-37.3) vượt trội hơn hẳn nhóm FALSE (-540.3). Dù đều âm do tính chất chọn lọc của PolitiFact, khoảng cách ~503 điểm là ranh giới phân tách hoàn hảo.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2.5. KHÔNG GIAN VĂN BẢN TỔNG HỢP ĐA NGỮ CẢNH (COMBINED TEXT)</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14 / 32</a:t>
            </a:r>
          </a:p>
        </p:txBody>
      </p:sp>
      <p:sp>
        <p:nvSpPr>
          <p:cNvPr id="9" name="Rounded Rectangle 8"/>
          <p:cNvSpPr/>
          <p:nvPr/>
        </p:nvSpPr>
        <p:spPr>
          <a:xfrm>
            <a:off x="731520" y="1463040"/>
            <a:ext cx="10698480" cy="9144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tIns="109728"/>
          <a:lstStyle/>
          <a:p>
            <a:pPr algn="ctr">
              <a:defRPr sz="1300" b="1">
                <a:solidFill>
                  <a:srgbClr val="2563EB"/>
                </a:solidFill>
                <a:latin typeface="Times New Roman"/>
              </a:defRPr>
            </a:pPr>
            <a:r>
              <a:t>Combined Text = Clean Statement + ' ' + Speaker + ' ' + Subject + ' ' + Context</a:t>
            </a:r>
          </a:p>
          <a:p>
            <a:pPr>
              <a:defRPr sz="1100">
                <a:solidFill>
                  <a:srgbClr val="0F172A"/>
                </a:solidFill>
                <a:latin typeface="Times New Roman"/>
              </a:defRPr>
            </a:pPr>
            <a:r>
              <a:t>Ví dụ: 'Tax cut bill will create massive jobs' + 'donald-trump' + 'economy' + 'speech' =&gt; 'tax cut bill create massive jobs donald-trump economy speech'</a:t>
            </a:r>
          </a:p>
        </p:txBody>
      </p:sp>
      <p:sp>
        <p:nvSpPr>
          <p:cNvPr id="10" name="Rounded Rectangle 9"/>
          <p:cNvSpPr/>
          <p:nvPr/>
        </p:nvSpPr>
        <p:spPr>
          <a:xfrm>
            <a:off x="731520" y="2560320"/>
            <a:ext cx="5120640" cy="3566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DC2626"/>
                </a:solidFill>
                <a:latin typeface="Times New Roman"/>
              </a:defRPr>
            </a:pPr>
            <a:r>
              <a:t>❌ KHUYẾT TẬT CỦA ONE-HOT ENCODING</a:t>
            </a:r>
          </a:p>
          <a:p>
            <a:pPr>
              <a:spcAft>
                <a:spcPts val="600"/>
              </a:spcAft>
              <a:defRPr sz="1150">
                <a:solidFill>
                  <a:srgbClr val="0F172A"/>
                </a:solidFill>
                <a:latin typeface="Times New Roman"/>
              </a:defRPr>
            </a:pPr>
            <a:r>
              <a:t>• Bùng nổ số chiều giả tạo: Tập dữ liệu có hơn 4.000 chính trị gia. Dùng One-Hot Encoder sẽ tạo ra hơn 4.000 cột toàn số 0 và 1.</a:t>
            </a:r>
          </a:p>
          <a:p>
            <a:pPr>
              <a:spcAft>
                <a:spcPts val="600"/>
              </a:spcAft>
              <a:defRPr sz="1150">
                <a:solidFill>
                  <a:srgbClr val="0F172A"/>
                </a:solidFill>
                <a:latin typeface="Times New Roman"/>
              </a:defRPr>
            </a:pPr>
            <a:r>
              <a:t>• Ma trận quá thưa thớt (High Sparsity): Khiến thuật toán cây quyết định bị phân nhánh loãng, rất dễ dẫn đến Overfitting.</a:t>
            </a:r>
          </a:p>
          <a:p>
            <a:pPr>
              <a:spcAft>
                <a:spcPts val="600"/>
              </a:spcAft>
              <a:defRPr sz="1150">
                <a:solidFill>
                  <a:srgbClr val="0F172A"/>
                </a:solidFill>
                <a:latin typeface="Times New Roman"/>
              </a:defRPr>
            </a:pPr>
            <a:r>
              <a:t>• Cô lập thông tin ngữ cảnh: One-Hot mã hóa độc lập từng biến, hoàn toàn không học được mối tương tác ngữ nghĩa giữa 'Donald Trump' và 'đề tài kinh tế'.</a:t>
            </a:r>
          </a:p>
        </p:txBody>
      </p:sp>
      <p:sp>
        <p:nvSpPr>
          <p:cNvPr id="11" name="Rounded Rectangle 10"/>
          <p:cNvSpPr/>
          <p:nvPr/>
        </p:nvSpPr>
        <p:spPr>
          <a:xfrm>
            <a:off x="6217920" y="2560320"/>
            <a:ext cx="5212080" cy="3566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6A34A"/>
                </a:solidFill>
                <a:latin typeface="Times New Roman"/>
              </a:defRPr>
            </a:pPr>
            <a:r>
              <a:t>✅ ƯU THẾ VƯỢT TRỘI CỦA COMBINED TEXT</a:t>
            </a:r>
          </a:p>
          <a:p>
            <a:pPr>
              <a:spcAft>
                <a:spcPts val="600"/>
              </a:spcAft>
              <a:defRPr sz="1150">
                <a:solidFill>
                  <a:srgbClr val="0F172A"/>
                </a:solidFill>
                <a:latin typeface="Times New Roman"/>
              </a:defRPr>
            </a:pPr>
            <a:r>
              <a:t>• Học cụm tương tác chéo tự nhiên: TF-IDF N-gram (1, 2) tự động học các cụm như 'jobs donald-trump', 'economy speech' phản ánh ngữ cảnh phát ngôn.</a:t>
            </a:r>
          </a:p>
          <a:p>
            <a:pPr>
              <a:spcAft>
                <a:spcPts val="600"/>
              </a:spcAft>
              <a:defRPr sz="1150">
                <a:solidFill>
                  <a:srgbClr val="0F172A"/>
                </a:solidFill>
                <a:latin typeface="Times New Roman"/>
              </a:defRPr>
            </a:pPr>
            <a:r>
              <a:t>• Bảo tồn cấu trúc phủ định: Cụm từ như 'not guilty', 'not support' được giữ nguyên vẹn dưới dạng bigram có ý nghĩa hoàn chỉnh.</a:t>
            </a:r>
          </a:p>
          <a:p>
            <a:pPr>
              <a:spcAft>
                <a:spcPts val="600"/>
              </a:spcAft>
              <a:defRPr sz="1150">
                <a:solidFill>
                  <a:srgbClr val="0F172A"/>
                </a:solidFill>
                <a:latin typeface="Times New Roman"/>
              </a:defRPr>
            </a:pPr>
            <a:r>
              <a:t>• Nén logarit Sublinear TF: Áp dụng công thức 1 + log(TF) ngăn chặn thiên lệch tần suất lặp từ của các bài diễn thuyết dài.</a:t>
            </a:r>
          </a:p>
          <a:p>
            <a:pPr>
              <a:spcAft>
                <a:spcPts val="600"/>
              </a:spcAft>
              <a:defRPr sz="1150">
                <a:solidFill>
                  <a:srgbClr val="0F172A"/>
                </a:solidFill>
                <a:latin typeface="Times New Roman"/>
              </a:defRPr>
            </a:pPr>
            <a:r>
              <a:t>• Không gian từ vựng cô đọng: Chọn lọc đúng Top 25.000 n-gram tinh hoa nhất, loại bỏ hoàn toàn các từ rác ngẫu nhiên.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2.6. ĐÓNG GÓI COLUMNTRANSFORMER &amp; MA TRẬN 25.013 CHIỀU</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15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KIẾN TRÚC XỬ LÝ SONG SONG 2 LUỒNG</a:t>
            </a:r>
          </a:p>
          <a:p>
            <a:pPr>
              <a:spcAft>
                <a:spcPts val="600"/>
              </a:spcAft>
              <a:defRPr sz="1150">
                <a:solidFill>
                  <a:srgbClr val="0F172A"/>
                </a:solidFill>
                <a:latin typeface="Times New Roman"/>
              </a:defRPr>
            </a:pPr>
            <a:r>
              <a:t>• 1. Luồng Văn bản (Text Pipeline):</a:t>
            </a:r>
          </a:p>
          <a:p>
            <a:pPr>
              <a:spcAft>
                <a:spcPts val="600"/>
              </a:spcAft>
              <a:defRPr sz="1150">
                <a:solidFill>
                  <a:srgbClr val="0F172A"/>
                </a:solidFill>
                <a:latin typeface="Times New Roman"/>
              </a:defRPr>
            </a:pPr>
            <a:r>
              <a:t>•   • Đầu vào: Cột 'combined_text'.</a:t>
            </a:r>
          </a:p>
          <a:p>
            <a:pPr>
              <a:spcAft>
                <a:spcPts val="600"/>
              </a:spcAft>
              <a:defRPr sz="1150">
                <a:solidFill>
                  <a:srgbClr val="0F172A"/>
                </a:solidFill>
                <a:latin typeface="Times New Roman"/>
              </a:defRPr>
            </a:pPr>
            <a:r>
              <a:t>•   • Bộ biến đổi: TfidfVectorizer(max_features=25000, ngram_range=(1, 2), sublinear_tf=True).</a:t>
            </a:r>
          </a:p>
          <a:p>
            <a:pPr>
              <a:spcAft>
                <a:spcPts val="600"/>
              </a:spcAft>
              <a:defRPr sz="1150">
                <a:solidFill>
                  <a:srgbClr val="0F172A"/>
                </a:solidFill>
                <a:latin typeface="Times New Roman"/>
              </a:defRPr>
            </a:pPr>
            <a:r>
              <a:t>•   • Đầu ra: Đúng 25.000 cột đặc trưng từ vựng n-gram.</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2. Luồng Số học (Numeric Pipeline):</a:t>
            </a:r>
          </a:p>
          <a:p>
            <a:pPr>
              <a:spcAft>
                <a:spcPts val="600"/>
              </a:spcAft>
              <a:defRPr sz="1150">
                <a:solidFill>
                  <a:srgbClr val="0F172A"/>
                </a:solidFill>
                <a:latin typeface="Times New Roman"/>
              </a:defRPr>
            </a:pPr>
            <a:r>
              <a:t>•   • Đầu vào: 13 cột số (6 cột lịch sử người nói gốc + 5 cột cú pháp giật gân + Trust Score + Net Truth).</a:t>
            </a:r>
          </a:p>
          <a:p>
            <a:pPr>
              <a:spcAft>
                <a:spcPts val="600"/>
              </a:spcAft>
              <a:defRPr sz="1150">
                <a:solidFill>
                  <a:srgbClr val="0F172A"/>
                </a:solidFill>
                <a:latin typeface="Times New Roman"/>
              </a:defRPr>
            </a:pPr>
            <a:r>
              <a:t>•   • Bộ biến đổi: StandardScaler() đưa toàn bộ về phân phối chuẩn có kỳ vọng 0 và phương sai 1.</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3. Hợp nhất Ngang (Column Stacking):</a:t>
            </a:r>
          </a:p>
          <a:p>
            <a:pPr>
              <a:spcAft>
                <a:spcPts val="600"/>
              </a:spcAft>
              <a:defRPr sz="1150">
                <a:solidFill>
                  <a:srgbClr val="0F172A"/>
                </a:solidFill>
                <a:latin typeface="Times New Roman"/>
              </a:defRPr>
            </a:pPr>
            <a:r>
              <a:t>•   • 25.000 cột văn bản + 13 cột số học = Đúng 25.013 cột ma trận đa chiều hoàn chỉnh.</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VAI TRÒ CỦA STANDARDSCALER &amp; CHỐNG RÒ RỈ</a:t>
            </a:r>
          </a:p>
          <a:p>
            <a:pPr>
              <a:spcAft>
                <a:spcPts val="600"/>
              </a:spcAft>
              <a:defRPr sz="1150">
                <a:solidFill>
                  <a:srgbClr val="0F172A"/>
                </a:solidFill>
                <a:latin typeface="Times New Roman"/>
              </a:defRPr>
            </a:pPr>
            <a:r>
              <a:t>• Tại sao bắt buộc phải chuẩn hóa StandardScaler?</a:t>
            </a:r>
          </a:p>
          <a:p>
            <a:pPr>
              <a:spcAft>
                <a:spcPts val="600"/>
              </a:spcAft>
              <a:defRPr sz="1150">
                <a:solidFill>
                  <a:srgbClr val="0F172A"/>
                </a:solidFill>
                <a:latin typeface="Times New Roman"/>
              </a:defRPr>
            </a:pPr>
            <a:r>
              <a:t>•   • Cột Net Truth dao động từ -540 đến +50, trong khi All-Caps Ratio chỉ từ 0.01 đến 0.05.</a:t>
            </a:r>
          </a:p>
          <a:p>
            <a:pPr>
              <a:spcAft>
                <a:spcPts val="600"/>
              </a:spcAft>
              <a:defRPr sz="1150">
                <a:solidFill>
                  <a:srgbClr val="0F172A"/>
                </a:solidFill>
                <a:latin typeface="Times New Roman"/>
              </a:defRPr>
            </a:pPr>
            <a:r>
              <a:t>•   • Nếu không chuẩn hóa, mô hình tuyến tính (Logistic) sẽ coi Net Truth quan trọng gấp hàng nghìn lần và hoàn toàn bỏ qua các dấu hiệu giật gân.</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Nguyên tắc fit_transform duy nhất trên Train:</a:t>
            </a:r>
          </a:p>
          <a:p>
            <a:pPr>
              <a:spcAft>
                <a:spcPts val="600"/>
              </a:spcAft>
              <a:defRPr sz="1150">
                <a:solidFill>
                  <a:srgbClr val="0F172A"/>
                </a:solidFill>
                <a:latin typeface="Times New Roman"/>
              </a:defRPr>
            </a:pPr>
            <a:r>
              <a:t>•   • Toàn bộ từ điển TF-IDF và thông số trung bình/độ lệch chuẩn (mean, std) của StandardScaler CHỈ ĐƯỢC PHÉP HỌC TRÊN TẬP TRAIN.</a:t>
            </a:r>
          </a:p>
          <a:p>
            <a:pPr>
              <a:spcAft>
                <a:spcPts val="600"/>
              </a:spcAft>
              <a:defRPr sz="1150">
                <a:solidFill>
                  <a:srgbClr val="0F172A"/>
                </a:solidFill>
                <a:latin typeface="Times New Roman"/>
              </a:defRPr>
            </a:pPr>
            <a:r>
              <a:t>•   • Tuyệt đối không tính toán lại bất kỳ thông số nào trên Validation và Test, đảm bảo mô hình hoạt động trong điều kiện mù thông tin hoàn toàn đối với dữ liệu tương lai.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2000" b="1">
                <a:solidFill>
                  <a:srgbClr val="2563EB"/>
                </a:solidFill>
                <a:latin typeface="Times New Roman"/>
              </a:defRPr>
            </a:pPr>
            <a:r>
              <a:t>CHƯƠNG 3</a:t>
            </a:r>
          </a:p>
          <a:p>
            <a:pPr>
              <a:spcBef>
                <a:spcPts val="1000"/>
              </a:spcBef>
              <a:defRPr sz="3200" b="1">
                <a:solidFill>
                  <a:srgbClr val="FFFFFF"/>
                </a:solidFill>
                <a:latin typeface="Times New Roman"/>
              </a:defRPr>
            </a:pPr>
            <a:r>
              <a:t>MÔ HÌNH HÓA &amp; XÂY DỰNG SIÊU MÔ HÌNH</a:t>
            </a:r>
            <a:br/>
            <a:r>
              <a:t>HỌC KẾT HỢP (ENSEMBLE LEARNING)</a:t>
            </a:r>
          </a:p>
          <a:p>
            <a:pPr>
              <a:spcBef>
                <a:spcPts val="1600"/>
              </a:spcBef>
              <a:defRPr sz="1500">
                <a:solidFill>
                  <a:srgbClr val="94A3B8"/>
                </a:solidFill>
                <a:latin typeface="Times New Roman"/>
              </a:defRPr>
            </a:pPr>
            <a:r>
              <a:t>Hợp nhất 3 trường phái học máy: Tuyến tính điều chuẩn, Đóng bao Bagging và Tăng cường độ dốc Gradient Boosting</a:t>
            </a:r>
          </a:p>
        </p:txBody>
      </p:sp>
      <p:sp>
        <p:nvSpPr>
          <p:cNvPr id="4" name="Rectangle 3"/>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6" name="TextBox 5"/>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3.1. QUY TRÌNH HUẤN LUYỆN TỔNG THỂ (END-TO-END PIPELINE)</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17 / 32</a:t>
            </a:r>
          </a:p>
        </p:txBody>
      </p:sp>
      <p:sp>
        <p:nvSpPr>
          <p:cNvPr id="9" name="Rounded Rectangle 8"/>
          <p:cNvSpPr/>
          <p:nvPr/>
        </p:nvSpPr>
        <p:spPr>
          <a:xfrm>
            <a:off x="7315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GIAI ĐOẠN 1: BASELINE BENCHMARKING</a:t>
            </a:r>
          </a:p>
          <a:p>
            <a:pPr>
              <a:spcAft>
                <a:spcPts val="600"/>
              </a:spcAft>
              <a:defRPr sz="1150">
                <a:solidFill>
                  <a:srgbClr val="0F172A"/>
                </a:solidFill>
                <a:latin typeface="Times New Roman"/>
              </a:defRPr>
            </a:pPr>
            <a:r>
              <a:t>• Huấn luyện các mô hình cổ điển (Logistic Regression &amp; Linear SVM) trên TF-IDF câu phát biểu đơn thuần (Text-only).</a:t>
            </a:r>
          </a:p>
          <a:p>
            <a:pPr>
              <a:spcAft>
                <a:spcPts val="600"/>
              </a:spcAft>
              <a:defRPr sz="1150">
                <a:solidFill>
                  <a:srgbClr val="0F172A"/>
                </a:solidFill>
                <a:latin typeface="Times New Roman"/>
              </a:defRPr>
            </a:pPr>
            <a:r>
              <a:t>• Xác lập mốc sàn đối chứng thực nghiệm: Logistic đạt 58.23%, SVM đạt 57.88% (xấp xỉ mốc đoán nhãn đa số Majority Baseline 57.62%).</a:t>
            </a:r>
          </a:p>
        </p:txBody>
      </p:sp>
      <p:sp>
        <p:nvSpPr>
          <p:cNvPr id="10" name="Rounded Rectangle 9"/>
          <p:cNvSpPr/>
          <p:nvPr/>
        </p:nvSpPr>
        <p:spPr>
          <a:xfrm>
            <a:off x="43891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GIAI ĐOẠN 2: MULTI-FEATURE MODELING</a:t>
            </a:r>
          </a:p>
          <a:p>
            <a:pPr>
              <a:spcAft>
                <a:spcPts val="600"/>
              </a:spcAft>
              <a:defRPr sz="1150">
                <a:solidFill>
                  <a:srgbClr val="0F172A"/>
                </a:solidFill>
                <a:latin typeface="Times New Roman"/>
              </a:defRPr>
            </a:pPr>
            <a:r>
              <a:t>• Chuyển đổi toàn bộ dữ liệu sang ma trận đa đặc trưng 25.013 chiều.</a:t>
            </a:r>
          </a:p>
          <a:p>
            <a:pPr>
              <a:spcAft>
                <a:spcPts val="600"/>
              </a:spcAft>
              <a:defRPr sz="1150">
                <a:solidFill>
                  <a:srgbClr val="0F172A"/>
                </a:solidFill>
                <a:latin typeface="Times New Roman"/>
              </a:defRPr>
            </a:pPr>
            <a:r>
              <a:t>• Huấn luyện 3 mô hình đại diện cho 3 trường phái:</a:t>
            </a:r>
          </a:p>
          <a:p>
            <a:pPr>
              <a:spcAft>
                <a:spcPts val="600"/>
              </a:spcAft>
              <a:defRPr sz="1150">
                <a:solidFill>
                  <a:srgbClr val="0F172A"/>
                </a:solidFill>
                <a:latin typeface="Times New Roman"/>
              </a:defRPr>
            </a:pPr>
            <a:r>
              <a:t>•   • Logistic Regression (Tuyến tính L2, C=1.5)</a:t>
            </a:r>
          </a:p>
          <a:p>
            <a:pPr>
              <a:spcAft>
                <a:spcPts val="600"/>
              </a:spcAft>
              <a:defRPr sz="1150">
                <a:solidFill>
                  <a:srgbClr val="0F172A"/>
                </a:solidFill>
                <a:latin typeface="Times New Roman"/>
              </a:defRPr>
            </a:pPr>
            <a:r>
              <a:t>•   • Random Forest (Đóng bao, 150 cây, depth=16)</a:t>
            </a:r>
          </a:p>
          <a:p>
            <a:pPr>
              <a:spcAft>
                <a:spcPts val="600"/>
              </a:spcAft>
              <a:defRPr sz="1150">
                <a:solidFill>
                  <a:srgbClr val="0F172A"/>
                </a:solidFill>
                <a:latin typeface="Times New Roman"/>
              </a:defRPr>
            </a:pPr>
            <a:r>
              <a:t>•   • XGBoost (Tăng cường độ dốc, 200 cây, depth=6)</a:t>
            </a:r>
          </a:p>
        </p:txBody>
      </p:sp>
      <p:sp>
        <p:nvSpPr>
          <p:cNvPr id="11" name="Rounded Rectangle 10"/>
          <p:cNvSpPr/>
          <p:nvPr/>
        </p:nvSpPr>
        <p:spPr>
          <a:xfrm>
            <a:off x="80467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GIAI ĐOẠN 3: WEIGHTED SOFT VOTING</a:t>
            </a:r>
          </a:p>
          <a:p>
            <a:pPr>
              <a:spcAft>
                <a:spcPts val="600"/>
              </a:spcAft>
              <a:defRPr sz="1150">
                <a:solidFill>
                  <a:srgbClr val="0F172A"/>
                </a:solidFill>
                <a:latin typeface="Times New Roman"/>
              </a:defRPr>
            </a:pPr>
            <a:r>
              <a:t>• Thiết kế Siêu mô hình Học kết hợp bình chọn mềm (Weighted Soft Voting Ensemble).</a:t>
            </a:r>
          </a:p>
          <a:p>
            <a:pPr>
              <a:spcAft>
                <a:spcPts val="600"/>
              </a:spcAft>
              <a:defRPr sz="1150">
                <a:solidFill>
                  <a:srgbClr val="0F172A"/>
                </a:solidFill>
                <a:latin typeface="Times New Roman"/>
              </a:defRPr>
            </a:pPr>
            <a:r>
              <a:t>• Tối ưu hóa không gian trọng số xác suất dựa trên tập Validation khách quan.</a:t>
            </a:r>
          </a:p>
          <a:p>
            <a:pPr>
              <a:spcAft>
                <a:spcPts val="600"/>
              </a:spcAft>
              <a:defRPr sz="1150">
                <a:solidFill>
                  <a:srgbClr val="0F172A"/>
                </a:solidFill>
                <a:latin typeface="Times New Roman"/>
              </a:defRPr>
            </a:pPr>
            <a:r>
              <a:t>• Thiết lập trọng số tối ưu (0.75 XGBoost + 0.25 Logistic) đưa Test Accuracy đạt đỉnh cao 73.61%.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3.2. CƠ SỞ LÝ THUYẾT &amp; CẤU HÌNH CỦA 3 MÔ HÌNH THÀNH PHẦN</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18 / 32</a:t>
            </a:r>
          </a:p>
        </p:txBody>
      </p:sp>
      <p:sp>
        <p:nvSpPr>
          <p:cNvPr id="9" name="Rounded Rectangle 8"/>
          <p:cNvSpPr/>
          <p:nvPr/>
        </p:nvSpPr>
        <p:spPr>
          <a:xfrm>
            <a:off x="7315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1. LOGISTIC REGRESSION</a:t>
            </a:r>
            <a:br/>
            <a:r>
              <a:t>(Điều chuẩn L2, C=1.5)</a:t>
            </a:r>
          </a:p>
          <a:p>
            <a:pPr>
              <a:spcAft>
                <a:spcPts val="600"/>
              </a:spcAft>
              <a:defRPr sz="1150">
                <a:solidFill>
                  <a:srgbClr val="0F172A"/>
                </a:solidFill>
                <a:latin typeface="Times New Roman"/>
              </a:defRPr>
            </a:pPr>
            <a:r>
              <a:t>• Hàm Softmax ánh xạ tổ hợp tuyến tính thành phân phối xác suất 3 lớp.</a:t>
            </a:r>
          </a:p>
          <a:p>
            <a:pPr>
              <a:spcAft>
                <a:spcPts val="600"/>
              </a:spcAft>
              <a:defRPr sz="1150">
                <a:solidFill>
                  <a:srgbClr val="0F172A"/>
                </a:solidFill>
                <a:latin typeface="Times New Roman"/>
              </a:defRPr>
            </a:pPr>
            <a:r>
              <a:t>• Điều chuẩn L2 (Ridge Penalty) kiểm soát trọng số chống Overfitting trên không gian 25.013 chiều.</a:t>
            </a:r>
          </a:p>
          <a:p>
            <a:pPr>
              <a:spcAft>
                <a:spcPts val="600"/>
              </a:spcAft>
              <a:defRPr sz="1150">
                <a:solidFill>
                  <a:srgbClr val="0F172A"/>
                </a:solidFill>
                <a:latin typeface="Times New Roman"/>
              </a:defRPr>
            </a:pPr>
            <a:r>
              <a:t>• Thuật toán tối ưu L-BFGS Quasi-Newton bậc 2 hội tụ cực nhanh trên ma trận thưa.</a:t>
            </a:r>
          </a:p>
          <a:p>
            <a:pPr>
              <a:spcAft>
                <a:spcPts val="600"/>
              </a:spcAft>
              <a:defRPr sz="1150">
                <a:solidFill>
                  <a:srgbClr val="0F172A"/>
                </a:solidFill>
                <a:latin typeface="Times New Roman"/>
              </a:defRPr>
            </a:pPr>
            <a:r>
              <a:t>• Đóng vai trò 'mỏ neo tuyến tính' làm dịu các phán đoán quá cực đoan ở biên phân chia.</a:t>
            </a:r>
          </a:p>
        </p:txBody>
      </p:sp>
      <p:sp>
        <p:nvSpPr>
          <p:cNvPr id="10" name="Rounded Rectangle 9"/>
          <p:cNvSpPr/>
          <p:nvPr/>
        </p:nvSpPr>
        <p:spPr>
          <a:xfrm>
            <a:off x="43891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2. RANDOM FOREST</a:t>
            </a:r>
            <a:br/>
            <a:r>
              <a:t>(150 Cây, max_depth=16)</a:t>
            </a:r>
          </a:p>
          <a:p>
            <a:pPr>
              <a:spcAft>
                <a:spcPts val="600"/>
              </a:spcAft>
              <a:defRPr sz="1150">
                <a:solidFill>
                  <a:srgbClr val="0F172A"/>
                </a:solidFill>
                <a:latin typeface="Times New Roman"/>
              </a:defRPr>
            </a:pPr>
            <a:r>
              <a:t>• Học kết hợp Đóng bao (Bagging) từ 150 cây quyết định.</a:t>
            </a:r>
          </a:p>
          <a:p>
            <a:pPr>
              <a:spcAft>
                <a:spcPts val="600"/>
              </a:spcAft>
              <a:defRPr sz="1150">
                <a:solidFill>
                  <a:srgbClr val="0F172A"/>
                </a:solidFill>
                <a:latin typeface="Times New Roman"/>
              </a:defRPr>
            </a:pPr>
            <a:r>
              <a:t>• Lấy mẫu Bootstrap có hoàn lại (63.2% mẫu huấn luyện, 36.8% kiểm định OOB).</a:t>
            </a:r>
          </a:p>
          <a:p>
            <a:pPr>
              <a:spcAft>
                <a:spcPts val="600"/>
              </a:spcAft>
              <a:defRPr sz="1150">
                <a:solidFill>
                  <a:srgbClr val="0F172A"/>
                </a:solidFill>
                <a:latin typeface="Times New Roman"/>
              </a:defRPr>
            </a:pPr>
            <a:r>
              <a:t>• Chọn ngẫu nhiên m = sqrt(p) ~ 158 đặc trưng tại mỗi nút phân nhánh.</a:t>
            </a:r>
          </a:p>
          <a:p>
            <a:pPr>
              <a:spcAft>
                <a:spcPts val="600"/>
              </a:spcAft>
              <a:defRPr sz="1150">
                <a:solidFill>
                  <a:srgbClr val="0F172A"/>
                </a:solidFill>
                <a:latin typeface="Times New Roman"/>
              </a:defRPr>
            </a:pPr>
            <a:r>
              <a:t>• Khống chế độ sâu max_depth=16 giúp kiểm soát phương sai, triệt tiêu nguy cơ học vẹt nhiễu ngoại lai.</a:t>
            </a:r>
          </a:p>
        </p:txBody>
      </p:sp>
      <p:sp>
        <p:nvSpPr>
          <p:cNvPr id="11" name="Rounded Rectangle 10"/>
          <p:cNvSpPr/>
          <p:nvPr/>
        </p:nvSpPr>
        <p:spPr>
          <a:xfrm>
            <a:off x="8046720" y="1463040"/>
            <a:ext cx="33832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3. XGBOOST</a:t>
            </a:r>
            <a:br/>
            <a:r>
              <a:t>(200 Cây, lr=0.08, depth=6)</a:t>
            </a:r>
          </a:p>
          <a:p>
            <a:pPr>
              <a:spcAft>
                <a:spcPts val="600"/>
              </a:spcAft>
              <a:defRPr sz="1150">
                <a:solidFill>
                  <a:srgbClr val="0F172A"/>
                </a:solidFill>
                <a:latin typeface="Times New Roman"/>
              </a:defRPr>
            </a:pPr>
            <a:r>
              <a:t>• Tăng cường độ dốc cực hạn (Extreme Gradient Boosting).</a:t>
            </a:r>
          </a:p>
          <a:p>
            <a:pPr>
              <a:spcAft>
                <a:spcPts val="600"/>
              </a:spcAft>
              <a:defRPr sz="1150">
                <a:solidFill>
                  <a:srgbClr val="0F172A"/>
                </a:solidFill>
                <a:latin typeface="Times New Roman"/>
              </a:defRPr>
            </a:pPr>
            <a:r>
              <a:t>• Học tuần tự (Sequential): Cây sau tối ưu phần dư sai số (Residuals) của các cây trước.</a:t>
            </a:r>
          </a:p>
          <a:p>
            <a:pPr>
              <a:spcAft>
                <a:spcPts val="600"/>
              </a:spcAft>
              <a:defRPr sz="1150">
                <a:solidFill>
                  <a:srgbClr val="0F172A"/>
                </a:solidFill>
                <a:latin typeface="Times New Roman"/>
              </a:defRPr>
            </a:pPr>
            <a:r>
              <a:t>• Khai triển chuỗi Taylor bậc 2 trên hàm mất mát tổng quát (Gradient g_i và Hessian h_i).</a:t>
            </a:r>
          </a:p>
          <a:p>
            <a:pPr>
              <a:spcAft>
                <a:spcPts val="600"/>
              </a:spcAft>
              <a:defRPr sz="1150">
                <a:solidFill>
                  <a:srgbClr val="0F172A"/>
                </a:solidFill>
                <a:latin typeface="Times New Roman"/>
              </a:defRPr>
            </a:pPr>
            <a:r>
              <a:t>• Cơ chế phạt cấu trúc cây tự động Omega(f_t) ngăn quá khớp, là mô hình đơn lẻ mạnh nhất hệ thống.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3.3. HIỆU NĂNG ĐA ĐẶC TRƯNG ĐỐI CHỨNG BASELINE</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19 / 32</a:t>
            </a:r>
          </a:p>
        </p:txBody>
      </p:sp>
      <p:graphicFrame>
        <p:nvGraphicFramePr>
          <p:cNvPr id="9" name="Table 8"/>
          <p:cNvGraphicFramePr>
            <a:graphicFrameLocks noGrp="1"/>
          </p:cNvGraphicFramePr>
          <p:nvPr/>
        </p:nvGraphicFramePr>
        <p:xfrm>
          <a:off x="731520" y="1463040"/>
          <a:ext cx="5669280" cy="4663440"/>
        </p:xfrm>
        <a:graphic>
          <a:graphicData uri="http://schemas.openxmlformats.org/drawingml/2006/table">
            <a:tbl>
              <a:tblPr firstRow="1" bandRow="1">
                <a:tableStyleId>{5C22544A-7EE6-4342-B048-85BDC9FD1C3A}</a:tableStyleId>
              </a:tblPr>
              <a:tblGrid>
                <a:gridCol w="1645920"/>
                <a:gridCol w="1463040"/>
                <a:gridCol w="822960"/>
                <a:gridCol w="731520"/>
                <a:gridCol w="1005840"/>
              </a:tblGrid>
              <a:tr h="666205">
                <a:tc>
                  <a:txBody>
                    <a:bodyPr/>
                    <a:lstStyle/>
                    <a:p>
                      <a:pPr algn="ctr">
                        <a:defRPr sz="1100" b="1">
                          <a:solidFill>
                            <a:srgbClr val="FFFFFF"/>
                          </a:solidFill>
                          <a:latin typeface="Times New Roman"/>
                        </a:defRPr>
                      </a:pPr>
                      <a:r>
                        <a:t>Mô hình thử nghiệm</a:t>
                      </a:r>
                    </a:p>
                  </a:txBody>
                  <a:tcPr>
                    <a:solidFill>
                      <a:srgbClr val="1E3A8A"/>
                    </a:solidFill>
                  </a:tcPr>
                </a:tc>
                <a:tc>
                  <a:txBody>
                    <a:bodyPr/>
                    <a:lstStyle/>
                    <a:p>
                      <a:pPr algn="ctr">
                        <a:defRPr sz="1100" b="1">
                          <a:solidFill>
                            <a:srgbClr val="FFFFFF"/>
                          </a:solidFill>
                          <a:latin typeface="Times New Roman"/>
                        </a:defRPr>
                      </a:pPr>
                      <a:r>
                        <a:t>Không gian đặc trưng</a:t>
                      </a:r>
                    </a:p>
                  </a:txBody>
                  <a:tcPr>
                    <a:solidFill>
                      <a:srgbClr val="1E3A8A"/>
                    </a:solidFill>
                  </a:tcPr>
                </a:tc>
                <a:tc>
                  <a:txBody>
                    <a:bodyPr/>
                    <a:lstStyle/>
                    <a:p>
                      <a:pPr algn="ctr">
                        <a:defRPr sz="1100" b="1">
                          <a:solidFill>
                            <a:srgbClr val="FFFFFF"/>
                          </a:solidFill>
                          <a:latin typeface="Times New Roman"/>
                        </a:defRPr>
                      </a:pPr>
                      <a:r>
                        <a:t>Test Accuracy</a:t>
                      </a:r>
                    </a:p>
                  </a:txBody>
                  <a:tcPr>
                    <a:solidFill>
                      <a:srgbClr val="1E3A8A"/>
                    </a:solidFill>
                  </a:tcPr>
                </a:tc>
                <a:tc>
                  <a:txBody>
                    <a:bodyPr/>
                    <a:lstStyle/>
                    <a:p>
                      <a:pPr algn="ctr">
                        <a:defRPr sz="1100" b="1">
                          <a:solidFill>
                            <a:srgbClr val="FFFFFF"/>
                          </a:solidFill>
                          <a:latin typeface="Times New Roman"/>
                        </a:defRPr>
                      </a:pPr>
                      <a:r>
                        <a:t>Macro F1</a:t>
                      </a:r>
                    </a:p>
                  </a:txBody>
                  <a:tcPr>
                    <a:solidFill>
                      <a:srgbClr val="1E3A8A"/>
                    </a:solidFill>
                  </a:tcPr>
                </a:tc>
                <a:tc>
                  <a:txBody>
                    <a:bodyPr/>
                    <a:lstStyle/>
                    <a:p>
                      <a:pPr algn="ctr">
                        <a:defRPr sz="1100" b="1">
                          <a:solidFill>
                            <a:srgbClr val="FFFFFF"/>
                          </a:solidFill>
                          <a:latin typeface="Times New Roman"/>
                        </a:defRPr>
                      </a:pPr>
                      <a:r>
                        <a:t>Mức cải thiện so với Baseline</a:t>
                      </a:r>
                    </a:p>
                  </a:txBody>
                  <a:tcPr>
                    <a:solidFill>
                      <a:srgbClr val="1E3A8A"/>
                    </a:solidFill>
                  </a:tcPr>
                </a:tc>
              </a:tr>
              <a:tr h="666205">
                <a:tc>
                  <a:txBody>
                    <a:bodyPr/>
                    <a:lstStyle/>
                    <a:p>
                      <a:pPr algn="l">
                        <a:defRPr sz="1050" b="0">
                          <a:solidFill>
                            <a:srgbClr val="0F172A"/>
                          </a:solidFill>
                          <a:latin typeface="Times New Roman"/>
                        </a:defRPr>
                      </a:pPr>
                      <a:r>
                        <a:t>Majority Baseline (Zero-Rule)</a:t>
                      </a:r>
                    </a:p>
                  </a:txBody>
                  <a:tcPr>
                    <a:solidFill>
                      <a:srgbClr val="FFFFFF"/>
                    </a:solidFill>
                  </a:tcPr>
                </a:tc>
                <a:tc>
                  <a:txBody>
                    <a:bodyPr/>
                    <a:lstStyle/>
                    <a:p>
                      <a:pPr algn="l">
                        <a:defRPr sz="1050" b="0">
                          <a:solidFill>
                            <a:srgbClr val="0F172A"/>
                          </a:solidFill>
                          <a:latin typeface="Times New Roman"/>
                        </a:defRPr>
                      </a:pPr>
                      <a:r>
                        <a:t>Không dùng đặc trưng</a:t>
                      </a:r>
                    </a:p>
                  </a:txBody>
                  <a:tcPr>
                    <a:solidFill>
                      <a:srgbClr val="FFFFFF"/>
                    </a:solidFill>
                  </a:tcPr>
                </a:tc>
                <a:tc>
                  <a:txBody>
                    <a:bodyPr/>
                    <a:lstStyle/>
                    <a:p>
                      <a:pPr algn="ctr">
                        <a:defRPr sz="1050" b="0">
                          <a:solidFill>
                            <a:srgbClr val="0F172A"/>
                          </a:solidFill>
                          <a:latin typeface="Times New Roman"/>
                        </a:defRPr>
                      </a:pPr>
                      <a:r>
                        <a:t>57.62%</a:t>
                      </a:r>
                    </a:p>
                  </a:txBody>
                  <a:tcPr>
                    <a:solidFill>
                      <a:srgbClr val="FFFFFF"/>
                    </a:solidFill>
                  </a:tcPr>
                </a:tc>
                <a:tc>
                  <a:txBody>
                    <a:bodyPr/>
                    <a:lstStyle/>
                    <a:p>
                      <a:pPr algn="ctr">
                        <a:defRPr sz="1050" b="0">
                          <a:solidFill>
                            <a:srgbClr val="0F172A"/>
                          </a:solidFill>
                          <a:latin typeface="Times New Roman"/>
                        </a:defRPr>
                      </a:pPr>
                      <a:r>
                        <a:t>0.2437</a:t>
                      </a:r>
                    </a:p>
                  </a:txBody>
                  <a:tcPr>
                    <a:solidFill>
                      <a:srgbClr val="FFFFFF"/>
                    </a:solidFill>
                  </a:tcPr>
                </a:tc>
                <a:tc>
                  <a:txBody>
                    <a:bodyPr/>
                    <a:lstStyle/>
                    <a:p>
                      <a:pPr algn="ctr">
                        <a:defRPr sz="1050" b="0">
                          <a:solidFill>
                            <a:srgbClr val="0F172A"/>
                          </a:solidFill>
                          <a:latin typeface="Times New Roman"/>
                        </a:defRPr>
                      </a:pPr>
                      <a:r>
                        <a:t>Mốc sàn đoán đa số</a:t>
                      </a:r>
                    </a:p>
                  </a:txBody>
                  <a:tcPr>
                    <a:solidFill>
                      <a:srgbClr val="FFFFFF"/>
                    </a:solidFill>
                  </a:tcPr>
                </a:tc>
              </a:tr>
              <a:tr h="666205">
                <a:tc>
                  <a:txBody>
                    <a:bodyPr/>
                    <a:lstStyle/>
                    <a:p>
                      <a:pPr algn="l">
                        <a:defRPr sz="1050" b="0">
                          <a:solidFill>
                            <a:srgbClr val="0F172A"/>
                          </a:solidFill>
                          <a:latin typeface="Times New Roman"/>
                        </a:defRPr>
                      </a:pPr>
                      <a:r>
                        <a:t>Logistic Regression (Baseline)</a:t>
                      </a:r>
                    </a:p>
                  </a:txBody>
                  <a:tcPr>
                    <a:solidFill>
                      <a:srgbClr val="F1F5F9"/>
                    </a:solidFill>
                  </a:tcPr>
                </a:tc>
                <a:tc>
                  <a:txBody>
                    <a:bodyPr/>
                    <a:lstStyle/>
                    <a:p>
                      <a:pPr algn="l">
                        <a:defRPr sz="1050" b="0">
                          <a:solidFill>
                            <a:srgbClr val="0F172A"/>
                          </a:solidFill>
                          <a:latin typeface="Times New Roman"/>
                        </a:defRPr>
                      </a:pPr>
                      <a:r>
                        <a:t>TF-IDF statement đơn thuần</a:t>
                      </a:r>
                    </a:p>
                  </a:txBody>
                  <a:tcPr>
                    <a:solidFill>
                      <a:srgbClr val="F1F5F9"/>
                    </a:solidFill>
                  </a:tcPr>
                </a:tc>
                <a:tc>
                  <a:txBody>
                    <a:bodyPr/>
                    <a:lstStyle/>
                    <a:p>
                      <a:pPr algn="ctr">
                        <a:defRPr sz="1050" b="0">
                          <a:solidFill>
                            <a:srgbClr val="0F172A"/>
                          </a:solidFill>
                          <a:latin typeface="Times New Roman"/>
                        </a:defRPr>
                      </a:pPr>
                      <a:r>
                        <a:t>58.23%</a:t>
                      </a:r>
                    </a:p>
                  </a:txBody>
                  <a:tcPr>
                    <a:solidFill>
                      <a:srgbClr val="F1F5F9"/>
                    </a:solidFill>
                  </a:tcPr>
                </a:tc>
                <a:tc>
                  <a:txBody>
                    <a:bodyPr/>
                    <a:lstStyle/>
                    <a:p>
                      <a:pPr algn="ctr">
                        <a:defRPr sz="1050" b="0">
                          <a:solidFill>
                            <a:srgbClr val="0F172A"/>
                          </a:solidFill>
                          <a:latin typeface="Times New Roman"/>
                        </a:defRPr>
                      </a:pPr>
                      <a:r>
                        <a:t>0.5084</a:t>
                      </a:r>
                    </a:p>
                  </a:txBody>
                  <a:tcPr>
                    <a:solidFill>
                      <a:srgbClr val="F1F5F9"/>
                    </a:solidFill>
                  </a:tcPr>
                </a:tc>
                <a:tc>
                  <a:txBody>
                    <a:bodyPr/>
                    <a:lstStyle/>
                    <a:p>
                      <a:pPr algn="ctr">
                        <a:defRPr sz="1050" b="0">
                          <a:solidFill>
                            <a:srgbClr val="0F172A"/>
                          </a:solidFill>
                          <a:latin typeface="Times New Roman"/>
                        </a:defRPr>
                      </a:pPr>
                      <a:r>
                        <a:t>Mốc đối chứng NLP (+0.61 điểm)</a:t>
                      </a:r>
                    </a:p>
                  </a:txBody>
                  <a:tcPr>
                    <a:solidFill>
                      <a:srgbClr val="F1F5F9"/>
                    </a:solidFill>
                  </a:tcPr>
                </a:tc>
              </a:tr>
              <a:tr h="666205">
                <a:tc>
                  <a:txBody>
                    <a:bodyPr/>
                    <a:lstStyle/>
                    <a:p>
                      <a:pPr algn="l">
                        <a:defRPr sz="1050" b="0">
                          <a:solidFill>
                            <a:srgbClr val="0F172A"/>
                          </a:solidFill>
                          <a:latin typeface="Times New Roman"/>
                        </a:defRPr>
                      </a:pPr>
                      <a:r>
                        <a:t>Linear SVM (Baseline)</a:t>
                      </a:r>
                    </a:p>
                  </a:txBody>
                  <a:tcPr>
                    <a:solidFill>
                      <a:srgbClr val="FFFFFF"/>
                    </a:solidFill>
                  </a:tcPr>
                </a:tc>
                <a:tc>
                  <a:txBody>
                    <a:bodyPr/>
                    <a:lstStyle/>
                    <a:p>
                      <a:pPr algn="l">
                        <a:defRPr sz="1050" b="0">
                          <a:solidFill>
                            <a:srgbClr val="0F172A"/>
                          </a:solidFill>
                          <a:latin typeface="Times New Roman"/>
                        </a:defRPr>
                      </a:pPr>
                      <a:r>
                        <a:t>TF-IDF statement đơn thuần</a:t>
                      </a:r>
                    </a:p>
                  </a:txBody>
                  <a:tcPr>
                    <a:solidFill>
                      <a:srgbClr val="FFFFFF"/>
                    </a:solidFill>
                  </a:tcPr>
                </a:tc>
                <a:tc>
                  <a:txBody>
                    <a:bodyPr/>
                    <a:lstStyle/>
                    <a:p>
                      <a:pPr algn="ctr">
                        <a:defRPr sz="1050" b="0">
                          <a:solidFill>
                            <a:srgbClr val="0F172A"/>
                          </a:solidFill>
                          <a:latin typeface="Times New Roman"/>
                        </a:defRPr>
                      </a:pPr>
                      <a:r>
                        <a:t>57.88%</a:t>
                      </a:r>
                    </a:p>
                  </a:txBody>
                  <a:tcPr>
                    <a:solidFill>
                      <a:srgbClr val="FFFFFF"/>
                    </a:solidFill>
                  </a:tcPr>
                </a:tc>
                <a:tc>
                  <a:txBody>
                    <a:bodyPr/>
                    <a:lstStyle/>
                    <a:p>
                      <a:pPr algn="ctr">
                        <a:defRPr sz="1050" b="0">
                          <a:solidFill>
                            <a:srgbClr val="0F172A"/>
                          </a:solidFill>
                          <a:latin typeface="Times New Roman"/>
                        </a:defRPr>
                      </a:pPr>
                      <a:r>
                        <a:t>0.4754</a:t>
                      </a:r>
                    </a:p>
                  </a:txBody>
                  <a:tcPr>
                    <a:solidFill>
                      <a:srgbClr val="FFFFFF"/>
                    </a:solidFill>
                  </a:tcPr>
                </a:tc>
                <a:tc>
                  <a:txBody>
                    <a:bodyPr/>
                    <a:lstStyle/>
                    <a:p>
                      <a:pPr algn="ctr">
                        <a:defRPr sz="1050" b="0">
                          <a:solidFill>
                            <a:srgbClr val="0F172A"/>
                          </a:solidFill>
                          <a:latin typeface="Times New Roman"/>
                        </a:defRPr>
                      </a:pPr>
                      <a:r>
                        <a:t>Mốc đối chứng SVM (+0.26 điểm)</a:t>
                      </a:r>
                    </a:p>
                  </a:txBody>
                  <a:tcPr>
                    <a:solidFill>
                      <a:srgbClr val="FFFFFF"/>
                    </a:solidFill>
                  </a:tcPr>
                </a:tc>
              </a:tr>
              <a:tr h="666205">
                <a:tc>
                  <a:txBody>
                    <a:bodyPr/>
                    <a:lstStyle/>
                    <a:p>
                      <a:pPr algn="l">
                        <a:defRPr sz="1050" b="0">
                          <a:solidFill>
                            <a:srgbClr val="0F172A"/>
                          </a:solidFill>
                          <a:latin typeface="Times New Roman"/>
                        </a:defRPr>
                      </a:pPr>
                      <a:r>
                        <a:t>Logistic Regression (Đa chiều)</a:t>
                      </a:r>
                    </a:p>
                  </a:txBody>
                  <a:tcPr>
                    <a:solidFill>
                      <a:srgbClr val="F1F5F9"/>
                    </a:solidFill>
                  </a:tcPr>
                </a:tc>
                <a:tc>
                  <a:txBody>
                    <a:bodyPr/>
                    <a:lstStyle/>
                    <a:p>
                      <a:pPr algn="l">
                        <a:defRPr sz="1050" b="0">
                          <a:solidFill>
                            <a:srgbClr val="0F172A"/>
                          </a:solidFill>
                          <a:latin typeface="Times New Roman"/>
                        </a:defRPr>
                      </a:pPr>
                      <a:r>
                        <a:t>25.013 chiều hoàn chỉnh</a:t>
                      </a:r>
                    </a:p>
                  </a:txBody>
                  <a:tcPr>
                    <a:solidFill>
                      <a:srgbClr val="F1F5F9"/>
                    </a:solidFill>
                  </a:tcPr>
                </a:tc>
                <a:tc>
                  <a:txBody>
                    <a:bodyPr/>
                    <a:lstStyle/>
                    <a:p>
                      <a:pPr algn="ctr">
                        <a:defRPr sz="1050" b="0">
                          <a:solidFill>
                            <a:srgbClr val="0F172A"/>
                          </a:solidFill>
                          <a:latin typeface="Times New Roman"/>
                        </a:defRPr>
                      </a:pPr>
                      <a:r>
                        <a:t>65.98%</a:t>
                      </a:r>
                    </a:p>
                  </a:txBody>
                  <a:tcPr>
                    <a:solidFill>
                      <a:srgbClr val="F1F5F9"/>
                    </a:solidFill>
                  </a:tcPr>
                </a:tc>
                <a:tc>
                  <a:txBody>
                    <a:bodyPr/>
                    <a:lstStyle/>
                    <a:p>
                      <a:pPr algn="ctr">
                        <a:defRPr sz="1050" b="0">
                          <a:solidFill>
                            <a:srgbClr val="0F172A"/>
                          </a:solidFill>
                          <a:latin typeface="Times New Roman"/>
                        </a:defRPr>
                      </a:pPr>
                      <a:r>
                        <a:t>-</a:t>
                      </a:r>
                    </a:p>
                  </a:txBody>
                  <a:tcPr>
                    <a:solidFill>
                      <a:srgbClr val="F1F5F9"/>
                    </a:solidFill>
                  </a:tcPr>
                </a:tc>
                <a:tc>
                  <a:txBody>
                    <a:bodyPr/>
                    <a:lstStyle/>
                    <a:p>
                      <a:pPr algn="ctr">
                        <a:defRPr sz="1050" b="0">
                          <a:solidFill>
                            <a:srgbClr val="0F172A"/>
                          </a:solidFill>
                          <a:latin typeface="Times New Roman"/>
                        </a:defRPr>
                      </a:pPr>
                      <a:r>
                        <a:t>Bứt phá +7.75 điểm</a:t>
                      </a:r>
                    </a:p>
                  </a:txBody>
                  <a:tcPr>
                    <a:solidFill>
                      <a:srgbClr val="F1F5F9"/>
                    </a:solidFill>
                  </a:tcPr>
                </a:tc>
              </a:tr>
              <a:tr h="666205">
                <a:tc>
                  <a:txBody>
                    <a:bodyPr/>
                    <a:lstStyle/>
                    <a:p>
                      <a:pPr algn="l">
                        <a:defRPr sz="1050" b="0">
                          <a:solidFill>
                            <a:srgbClr val="0F172A"/>
                          </a:solidFill>
                          <a:latin typeface="Times New Roman"/>
                        </a:defRPr>
                      </a:pPr>
                      <a:r>
                        <a:t>Random Forest (150 cây)</a:t>
                      </a:r>
                    </a:p>
                  </a:txBody>
                  <a:tcPr>
                    <a:solidFill>
                      <a:srgbClr val="FFFFFF"/>
                    </a:solidFill>
                  </a:tcPr>
                </a:tc>
                <a:tc>
                  <a:txBody>
                    <a:bodyPr/>
                    <a:lstStyle/>
                    <a:p>
                      <a:pPr algn="l">
                        <a:defRPr sz="1050" b="0">
                          <a:solidFill>
                            <a:srgbClr val="0F172A"/>
                          </a:solidFill>
                          <a:latin typeface="Times New Roman"/>
                        </a:defRPr>
                      </a:pPr>
                      <a:r>
                        <a:t>25.013 chiều hoàn chỉnh</a:t>
                      </a:r>
                    </a:p>
                  </a:txBody>
                  <a:tcPr>
                    <a:solidFill>
                      <a:srgbClr val="FFFFFF"/>
                    </a:solidFill>
                  </a:tcPr>
                </a:tc>
                <a:tc>
                  <a:txBody>
                    <a:bodyPr/>
                    <a:lstStyle/>
                    <a:p>
                      <a:pPr algn="ctr">
                        <a:defRPr sz="1050" b="0">
                          <a:solidFill>
                            <a:srgbClr val="0F172A"/>
                          </a:solidFill>
                          <a:latin typeface="Times New Roman"/>
                        </a:defRPr>
                      </a:pPr>
                      <a:r>
                        <a:t>62.76%</a:t>
                      </a:r>
                    </a:p>
                  </a:txBody>
                  <a:tcPr>
                    <a:solidFill>
                      <a:srgbClr val="FFFFFF"/>
                    </a:solidFill>
                  </a:tcPr>
                </a:tc>
                <a:tc>
                  <a:txBody>
                    <a:bodyPr/>
                    <a:lstStyle/>
                    <a:p>
                      <a:pPr algn="ctr">
                        <a:defRPr sz="1050" b="0">
                          <a:solidFill>
                            <a:srgbClr val="0F172A"/>
                          </a:solidFill>
                          <a:latin typeface="Times New Roman"/>
                        </a:defRPr>
                      </a:pPr>
                      <a:r>
                        <a:t>-</a:t>
                      </a:r>
                    </a:p>
                  </a:txBody>
                  <a:tcPr>
                    <a:solidFill>
                      <a:srgbClr val="FFFFFF"/>
                    </a:solidFill>
                  </a:tcPr>
                </a:tc>
                <a:tc>
                  <a:txBody>
                    <a:bodyPr/>
                    <a:lstStyle/>
                    <a:p>
                      <a:pPr algn="ctr">
                        <a:defRPr sz="1050" b="0">
                          <a:solidFill>
                            <a:srgbClr val="0F172A"/>
                          </a:solidFill>
                          <a:latin typeface="Times New Roman"/>
                        </a:defRPr>
                      </a:pPr>
                      <a:r>
                        <a:t>Bứt phá +4.53 điểm</a:t>
                      </a:r>
                    </a:p>
                  </a:txBody>
                  <a:tcPr>
                    <a:solidFill>
                      <a:srgbClr val="FFFFFF"/>
                    </a:solidFill>
                  </a:tcPr>
                </a:tc>
              </a:tr>
              <a:tr h="666210">
                <a:tc>
                  <a:txBody>
                    <a:bodyPr/>
                    <a:lstStyle/>
                    <a:p>
                      <a:pPr algn="l">
                        <a:defRPr sz="1050" b="0">
                          <a:solidFill>
                            <a:srgbClr val="0F172A"/>
                          </a:solidFill>
                          <a:latin typeface="Times New Roman"/>
                        </a:defRPr>
                      </a:pPr>
                      <a:r>
                        <a:t>XGBoost (200 cây)</a:t>
                      </a:r>
                    </a:p>
                  </a:txBody>
                  <a:tcPr>
                    <a:solidFill>
                      <a:srgbClr val="F1F5F9"/>
                    </a:solidFill>
                  </a:tcPr>
                </a:tc>
                <a:tc>
                  <a:txBody>
                    <a:bodyPr/>
                    <a:lstStyle/>
                    <a:p>
                      <a:pPr algn="l">
                        <a:defRPr sz="1050" b="0">
                          <a:solidFill>
                            <a:srgbClr val="0F172A"/>
                          </a:solidFill>
                          <a:latin typeface="Times New Roman"/>
                        </a:defRPr>
                      </a:pPr>
                      <a:r>
                        <a:t>25.013 chiều hoàn chỉnh</a:t>
                      </a:r>
                    </a:p>
                  </a:txBody>
                  <a:tcPr>
                    <a:solidFill>
                      <a:srgbClr val="F1F5F9"/>
                    </a:solidFill>
                  </a:tcPr>
                </a:tc>
                <a:tc>
                  <a:txBody>
                    <a:bodyPr/>
                    <a:lstStyle/>
                    <a:p>
                      <a:pPr algn="ctr">
                        <a:defRPr sz="1050" b="0">
                          <a:solidFill>
                            <a:srgbClr val="0F172A"/>
                          </a:solidFill>
                          <a:latin typeface="Times New Roman"/>
                        </a:defRPr>
                      </a:pPr>
                      <a:r>
                        <a:t>73.34%</a:t>
                      </a:r>
                    </a:p>
                  </a:txBody>
                  <a:tcPr>
                    <a:solidFill>
                      <a:srgbClr val="F1F5F9"/>
                    </a:solidFill>
                  </a:tcPr>
                </a:tc>
                <a:tc>
                  <a:txBody>
                    <a:bodyPr/>
                    <a:lstStyle/>
                    <a:p>
                      <a:pPr algn="ctr">
                        <a:defRPr sz="1050" b="0">
                          <a:solidFill>
                            <a:srgbClr val="0F172A"/>
                          </a:solidFill>
                          <a:latin typeface="Times New Roman"/>
                        </a:defRPr>
                      </a:pPr>
                      <a:r>
                        <a:t>-</a:t>
                      </a:r>
                    </a:p>
                  </a:txBody>
                  <a:tcPr>
                    <a:solidFill>
                      <a:srgbClr val="F1F5F9"/>
                    </a:solidFill>
                  </a:tcPr>
                </a:tc>
                <a:tc>
                  <a:txBody>
                    <a:bodyPr/>
                    <a:lstStyle/>
                    <a:p>
                      <a:pPr algn="ctr">
                        <a:defRPr sz="1050" b="0">
                          <a:solidFill>
                            <a:srgbClr val="0F172A"/>
                          </a:solidFill>
                          <a:latin typeface="Times New Roman"/>
                        </a:defRPr>
                      </a:pPr>
                      <a:r>
                        <a:t>Bứt phá +15.11 điểm so với Baseline</a:t>
                      </a:r>
                    </a:p>
                  </a:txBody>
                  <a:tcPr>
                    <a:solidFill>
                      <a:srgbClr val="F1F5F9"/>
                    </a:solidFill>
                  </a:tcPr>
                </a:tc>
              </a:tr>
            </a:tbl>
          </a:graphicData>
        </a:graphic>
      </p:graphicFrame>
      <p:pic>
        <p:nvPicPr>
          <p:cNvPr id="10" name="Picture 9" descr="hinh4_1_model_comparison.png"/>
          <p:cNvPicPr>
            <a:picLocks noChangeAspect="1"/>
          </p:cNvPicPr>
          <p:nvPr/>
        </p:nvPicPr>
        <p:blipFill>
          <a:blip r:embed="rId3"/>
          <a:stretch>
            <a:fillRect/>
          </a:stretch>
        </p:blipFill>
        <p:spPr>
          <a:xfrm>
            <a:off x="6583680" y="1463040"/>
            <a:ext cx="4846320" cy="190391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3.4. SIÊU MÔ HÌNH WEIGHTED SOFT VOTING ENSEMBLE</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20 / 32</a:t>
            </a:r>
          </a:p>
        </p:txBody>
      </p:sp>
      <p:sp>
        <p:nvSpPr>
          <p:cNvPr id="9" name="Rounded Rectangle 8"/>
          <p:cNvSpPr/>
          <p:nvPr/>
        </p:nvSpPr>
        <p:spPr>
          <a:xfrm>
            <a:off x="731520" y="1463040"/>
            <a:ext cx="10698480" cy="9144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tIns="109728"/>
          <a:lstStyle/>
          <a:p>
            <a:pPr algn="ctr">
              <a:defRPr sz="1400" b="1">
                <a:solidFill>
                  <a:srgbClr val="2563EB"/>
                </a:solidFill>
                <a:latin typeface="Times New Roman"/>
              </a:defRPr>
            </a:pPr>
            <a:r>
              <a:t>P(Ensemble) = 0.75 * P(XGBoost) + 0.00 * P(RandomForest) + 0.25 * P(LogisticRegression)</a:t>
            </a:r>
          </a:p>
          <a:p>
            <a:pPr>
              <a:defRPr sz="1100">
                <a:solidFill>
                  <a:srgbClr val="0F172A"/>
                </a:solidFill>
                <a:latin typeface="Times New Roman"/>
              </a:defRPr>
            </a:pPr>
            <a:r>
              <a:t>Cơ chế Bình chọn Mềm có Trọng số (Soft Voting) dựa trên phân phối xác suất dự đoán của từng lớp thay vì bỏ phiếu cứng (Hard Voting)</a:t>
            </a:r>
          </a:p>
        </p:txBody>
      </p:sp>
      <p:sp>
        <p:nvSpPr>
          <p:cNvPr id="10" name="Rounded Rectangle 9"/>
          <p:cNvSpPr/>
          <p:nvPr/>
        </p:nvSpPr>
        <p:spPr>
          <a:xfrm>
            <a:off x="731520" y="2560320"/>
            <a:ext cx="3383280" cy="3566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75% CHO XGBOOST</a:t>
            </a:r>
            <a:br/>
            <a:r>
              <a:t>(Khả năng Phân tách Đỉnh cao)</a:t>
            </a:r>
          </a:p>
          <a:p>
            <a:pPr>
              <a:spcAft>
                <a:spcPts val="600"/>
              </a:spcAft>
              <a:defRPr sz="1150">
                <a:solidFill>
                  <a:srgbClr val="0F172A"/>
                </a:solidFill>
                <a:latin typeface="Times New Roman"/>
              </a:defRPr>
            </a:pPr>
            <a:r>
              <a:t>• XGBoost đạt độ chính xác đơn lẻ cao nhất toàn hệ thống (73.34%).</a:t>
            </a:r>
          </a:p>
          <a:p>
            <a:pPr>
              <a:spcAft>
                <a:spcPts val="600"/>
              </a:spcAft>
              <a:defRPr sz="1150">
                <a:solidFill>
                  <a:srgbClr val="0F172A"/>
                </a:solidFill>
                <a:latin typeface="Times New Roman"/>
              </a:defRPr>
            </a:pPr>
            <a:r>
              <a:t>• Trọng số 75% cho phép siêu mô hình tận dụng tối đa khả năng học quan hệ phi tuyến phức tạp giữa siêu dữ liệu và văn bản.</a:t>
            </a:r>
          </a:p>
        </p:txBody>
      </p:sp>
      <p:sp>
        <p:nvSpPr>
          <p:cNvPr id="11" name="Rounded Rectangle 10"/>
          <p:cNvSpPr/>
          <p:nvPr/>
        </p:nvSpPr>
        <p:spPr>
          <a:xfrm>
            <a:off x="4389120" y="2560320"/>
            <a:ext cx="3383280" cy="3566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0% CHO RANDOM FOREST</a:t>
            </a:r>
            <a:br/>
            <a:r>
              <a:t>(Triệt tiêu Trọng số do Trùng lặp)</a:t>
            </a:r>
          </a:p>
          <a:p>
            <a:pPr>
              <a:spcAft>
                <a:spcPts val="600"/>
              </a:spcAft>
              <a:defRPr sz="1150">
                <a:solidFill>
                  <a:srgbClr val="0F172A"/>
                </a:solidFill>
                <a:latin typeface="Times New Roman"/>
              </a:defRPr>
            </a:pPr>
            <a:r>
              <a:t>• Được thuật toán GridSearch trên Validation gán trọng số 0.</a:t>
            </a:r>
          </a:p>
          <a:p>
            <a:pPr>
              <a:spcAft>
                <a:spcPts val="600"/>
              </a:spcAft>
              <a:defRPr sz="1150">
                <a:solidFill>
                  <a:srgbClr val="0F172A"/>
                </a:solidFill>
                <a:latin typeface="Times New Roman"/>
              </a:defRPr>
            </a:pPr>
            <a:r>
              <a:t>• Do RF (62.76%) bị áp đảo hoàn toàn bởi XGBoost trên cùng họ mô hình dạng cây, việc loại bỏ RF giúp tinh gọn thời gian suy luận.</a:t>
            </a:r>
          </a:p>
        </p:txBody>
      </p:sp>
      <p:sp>
        <p:nvSpPr>
          <p:cNvPr id="12" name="Rounded Rectangle 11"/>
          <p:cNvSpPr/>
          <p:nvPr/>
        </p:nvSpPr>
        <p:spPr>
          <a:xfrm>
            <a:off x="8046720" y="2560320"/>
            <a:ext cx="3383280" cy="3566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25% CHO LOGISTIC REGRESSION</a:t>
            </a:r>
            <a:br/>
            <a:r>
              <a:t>(Mỏ neo Tuyến tính &amp; Giảm quá khớp)</a:t>
            </a:r>
          </a:p>
          <a:p>
            <a:pPr>
              <a:spcAft>
                <a:spcPts val="600"/>
              </a:spcAft>
              <a:defRPr sz="1150">
                <a:solidFill>
                  <a:srgbClr val="0F172A"/>
                </a:solidFill>
                <a:latin typeface="Times New Roman"/>
              </a:defRPr>
            </a:pPr>
            <a:r>
              <a:t>• Đóng vai trò 'bộ giảm chấn' tuyến tính.</a:t>
            </a:r>
          </a:p>
          <a:p>
            <a:pPr>
              <a:spcAft>
                <a:spcPts val="600"/>
              </a:spcAft>
              <a:defRPr sz="1150">
                <a:solidFill>
                  <a:srgbClr val="0F172A"/>
                </a:solidFill>
                <a:latin typeface="Times New Roman"/>
              </a:defRPr>
            </a:pPr>
            <a:r>
              <a:t>• Làm dịu các phán đoán xác suất bị đẩy lên quá mức cực đoan của XGBoost tại vùng ranh giới mờ giữa nhãn False và Mixed.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2000" b="1">
                <a:solidFill>
                  <a:srgbClr val="2563EB"/>
                </a:solidFill>
                <a:latin typeface="Times New Roman"/>
              </a:defRPr>
            </a:pPr>
            <a:r>
              <a:t>CHƯƠNG 4</a:t>
            </a:r>
          </a:p>
          <a:p>
            <a:pPr>
              <a:spcBef>
                <a:spcPts val="1000"/>
              </a:spcBef>
              <a:defRPr sz="3200" b="1">
                <a:solidFill>
                  <a:srgbClr val="FFFFFF"/>
                </a:solidFill>
                <a:latin typeface="Times New Roman"/>
              </a:defRPr>
            </a:pPr>
            <a:r>
              <a:t>THỰC NGHIỆM VÀ ĐÁNH GIÁ KẾT QUẢ</a:t>
            </a:r>
            <a:br/>
            <a:r>
              <a:t>(EXPERIMENTAL EVALUATION)</a:t>
            </a:r>
          </a:p>
          <a:p>
            <a:pPr>
              <a:spcBef>
                <a:spcPts val="1600"/>
              </a:spcBef>
              <a:defRPr sz="1500">
                <a:solidFill>
                  <a:srgbClr val="94A3B8"/>
                </a:solidFill>
                <a:latin typeface="Times New Roman"/>
              </a:defRPr>
            </a:pPr>
            <a:r>
              <a:t>Phân tích ma trận nhầm lẫn, Đánh giá an toàn máy, Tiến trình Ablation 5 chặng và Bóc tách hộp đen XGBoost</a:t>
            </a:r>
          </a:p>
        </p:txBody>
      </p:sp>
      <p:sp>
        <p:nvSpPr>
          <p:cNvPr id="4" name="Rectangle 3"/>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6" name="TextBox 5"/>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4.1. BÁO CÁO PHÂN LOẠI CHI TIẾT &amp; MA TRẬN NHẦM LẪN</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22 / 32</a:t>
            </a:r>
          </a:p>
        </p:txBody>
      </p:sp>
      <p:pic>
        <p:nvPicPr>
          <p:cNvPr id="9" name="Picture 8" descr="hinh4_2_confusion_matrix.png"/>
          <p:cNvPicPr>
            <a:picLocks noChangeAspect="1"/>
          </p:cNvPicPr>
          <p:nvPr/>
        </p:nvPicPr>
        <p:blipFill>
          <a:blip r:embed="rId3"/>
          <a:stretch>
            <a:fillRect/>
          </a:stretch>
        </p:blipFill>
        <p:spPr>
          <a:xfrm>
            <a:off x="731520" y="1463040"/>
            <a:ext cx="5120640" cy="4023360"/>
          </a:xfrm>
          <a:prstGeom prst="rect">
            <a:avLst/>
          </a:prstGeom>
        </p:spPr>
      </p:pic>
      <p:graphicFrame>
        <p:nvGraphicFramePr>
          <p:cNvPr id="10" name="Table 9"/>
          <p:cNvGraphicFramePr>
            <a:graphicFrameLocks noGrp="1"/>
          </p:cNvGraphicFramePr>
          <p:nvPr/>
        </p:nvGraphicFramePr>
        <p:xfrm>
          <a:off x="6126480" y="1463040"/>
          <a:ext cx="5303520" cy="2011680"/>
        </p:xfrm>
        <a:graphic>
          <a:graphicData uri="http://schemas.openxmlformats.org/drawingml/2006/table">
            <a:tbl>
              <a:tblPr firstRow="1" bandRow="1">
                <a:tableStyleId>{5C22544A-7EE6-4342-B048-85BDC9FD1C3A}</a:tableStyleId>
              </a:tblPr>
              <a:tblGrid>
                <a:gridCol w="1737360"/>
                <a:gridCol w="822960"/>
                <a:gridCol w="822960"/>
                <a:gridCol w="914400"/>
                <a:gridCol w="1005840"/>
              </a:tblGrid>
              <a:tr h="402336">
                <a:tc>
                  <a:txBody>
                    <a:bodyPr/>
                    <a:lstStyle/>
                    <a:p>
                      <a:pPr algn="ctr">
                        <a:defRPr sz="1100" b="1">
                          <a:solidFill>
                            <a:srgbClr val="FFFFFF"/>
                          </a:solidFill>
                          <a:latin typeface="Times New Roman"/>
                        </a:defRPr>
                      </a:pPr>
                      <a:r>
                        <a:t>Nhãn Phân Loại</a:t>
                      </a:r>
                    </a:p>
                  </a:txBody>
                  <a:tcPr>
                    <a:solidFill>
                      <a:srgbClr val="1E3A8A"/>
                    </a:solidFill>
                  </a:tcPr>
                </a:tc>
                <a:tc>
                  <a:txBody>
                    <a:bodyPr/>
                    <a:lstStyle/>
                    <a:p>
                      <a:pPr algn="ctr">
                        <a:defRPr sz="1100" b="1">
                          <a:solidFill>
                            <a:srgbClr val="FFFFFF"/>
                          </a:solidFill>
                          <a:latin typeface="Times New Roman"/>
                        </a:defRPr>
                      </a:pPr>
                      <a:r>
                        <a:t>Precision</a:t>
                      </a:r>
                    </a:p>
                  </a:txBody>
                  <a:tcPr>
                    <a:solidFill>
                      <a:srgbClr val="1E3A8A"/>
                    </a:solidFill>
                  </a:tcPr>
                </a:tc>
                <a:tc>
                  <a:txBody>
                    <a:bodyPr/>
                    <a:lstStyle/>
                    <a:p>
                      <a:pPr algn="ctr">
                        <a:defRPr sz="1100" b="1">
                          <a:solidFill>
                            <a:srgbClr val="FFFFFF"/>
                          </a:solidFill>
                          <a:latin typeface="Times New Roman"/>
                        </a:defRPr>
                      </a:pPr>
                      <a:r>
                        <a:t>Recall</a:t>
                      </a:r>
                    </a:p>
                  </a:txBody>
                  <a:tcPr>
                    <a:solidFill>
                      <a:srgbClr val="1E3A8A"/>
                    </a:solidFill>
                  </a:tcPr>
                </a:tc>
                <a:tc>
                  <a:txBody>
                    <a:bodyPr/>
                    <a:lstStyle/>
                    <a:p>
                      <a:pPr algn="ctr">
                        <a:defRPr sz="1100" b="1">
                          <a:solidFill>
                            <a:srgbClr val="FFFFFF"/>
                          </a:solidFill>
                          <a:latin typeface="Times New Roman"/>
                        </a:defRPr>
                      </a:pPr>
                      <a:r>
                        <a:t>F1-Score</a:t>
                      </a:r>
                    </a:p>
                  </a:txBody>
                  <a:tcPr>
                    <a:solidFill>
                      <a:srgbClr val="1E3A8A"/>
                    </a:solidFill>
                  </a:tcPr>
                </a:tc>
                <a:tc>
                  <a:txBody>
                    <a:bodyPr/>
                    <a:lstStyle/>
                    <a:p>
                      <a:pPr algn="ctr">
                        <a:defRPr sz="1100" b="1">
                          <a:solidFill>
                            <a:srgbClr val="FFFFFF"/>
                          </a:solidFill>
                          <a:latin typeface="Times New Roman"/>
                        </a:defRPr>
                      </a:pPr>
                      <a:r>
                        <a:t>Số Mẫu Test</a:t>
                      </a:r>
                    </a:p>
                  </a:txBody>
                  <a:tcPr>
                    <a:solidFill>
                      <a:srgbClr val="1E3A8A"/>
                    </a:solidFill>
                  </a:tcPr>
                </a:tc>
              </a:tr>
              <a:tr h="402336">
                <a:tc>
                  <a:txBody>
                    <a:bodyPr/>
                    <a:lstStyle/>
                    <a:p>
                      <a:pPr algn="l">
                        <a:defRPr sz="1050" b="0">
                          <a:solidFill>
                            <a:srgbClr val="0F172A"/>
                          </a:solidFill>
                          <a:latin typeface="Times New Roman"/>
                        </a:defRPr>
                      </a:pPr>
                      <a:r>
                        <a:t>0: FALSE (Tin giả)</a:t>
                      </a:r>
                    </a:p>
                  </a:txBody>
                  <a:tcPr>
                    <a:solidFill>
                      <a:srgbClr val="FFFFFF"/>
                    </a:solidFill>
                  </a:tcPr>
                </a:tc>
                <a:tc>
                  <a:txBody>
                    <a:bodyPr/>
                    <a:lstStyle/>
                    <a:p>
                      <a:pPr algn="ctr">
                        <a:defRPr sz="1050" b="0">
                          <a:solidFill>
                            <a:srgbClr val="0F172A"/>
                          </a:solidFill>
                          <a:latin typeface="Times New Roman"/>
                        </a:defRPr>
                      </a:pPr>
                      <a:r>
                        <a:t>81.21%</a:t>
                      </a:r>
                    </a:p>
                  </a:txBody>
                  <a:tcPr>
                    <a:solidFill>
                      <a:srgbClr val="FFFFFF"/>
                    </a:solidFill>
                  </a:tcPr>
                </a:tc>
                <a:tc>
                  <a:txBody>
                    <a:bodyPr/>
                    <a:lstStyle/>
                    <a:p>
                      <a:pPr algn="ctr">
                        <a:defRPr sz="1050" b="0">
                          <a:solidFill>
                            <a:srgbClr val="0F172A"/>
                          </a:solidFill>
                          <a:latin typeface="Times New Roman"/>
                        </a:defRPr>
                      </a:pPr>
                      <a:r>
                        <a:t>86.55%</a:t>
                      </a:r>
                    </a:p>
                  </a:txBody>
                  <a:tcPr>
                    <a:solidFill>
                      <a:srgbClr val="FFFFFF"/>
                    </a:solidFill>
                  </a:tcPr>
                </a:tc>
                <a:tc>
                  <a:txBody>
                    <a:bodyPr/>
                    <a:lstStyle/>
                    <a:p>
                      <a:pPr algn="ctr">
                        <a:defRPr sz="1050" b="0">
                          <a:solidFill>
                            <a:srgbClr val="0F172A"/>
                          </a:solidFill>
                          <a:latin typeface="Times New Roman"/>
                        </a:defRPr>
                      </a:pPr>
                      <a:r>
                        <a:t>0.8379</a:t>
                      </a:r>
                    </a:p>
                  </a:txBody>
                  <a:tcPr>
                    <a:solidFill>
                      <a:srgbClr val="FFFFFF"/>
                    </a:solidFill>
                  </a:tcPr>
                </a:tc>
                <a:tc>
                  <a:txBody>
                    <a:bodyPr/>
                    <a:lstStyle/>
                    <a:p>
                      <a:pPr algn="ctr">
                        <a:defRPr sz="1050" b="0">
                          <a:solidFill>
                            <a:srgbClr val="0F172A"/>
                          </a:solidFill>
                          <a:latin typeface="Times New Roman"/>
                        </a:defRPr>
                      </a:pPr>
                      <a:r>
                        <a:t>1.323</a:t>
                      </a:r>
                    </a:p>
                  </a:txBody>
                  <a:tcPr>
                    <a:solidFill>
                      <a:srgbClr val="FFFFFF"/>
                    </a:solidFill>
                  </a:tcPr>
                </a:tc>
              </a:tr>
              <a:tr h="402336">
                <a:tc>
                  <a:txBody>
                    <a:bodyPr/>
                    <a:lstStyle/>
                    <a:p>
                      <a:pPr algn="l">
                        <a:defRPr sz="1050" b="0">
                          <a:solidFill>
                            <a:srgbClr val="0F172A"/>
                          </a:solidFill>
                          <a:latin typeface="Times New Roman"/>
                        </a:defRPr>
                      </a:pPr>
                      <a:r>
                        <a:t>1: MIXED (Lập lờ)</a:t>
                      </a:r>
                    </a:p>
                  </a:txBody>
                  <a:tcPr>
                    <a:solidFill>
                      <a:srgbClr val="F1F5F9"/>
                    </a:solidFill>
                  </a:tcPr>
                </a:tc>
                <a:tc>
                  <a:txBody>
                    <a:bodyPr/>
                    <a:lstStyle/>
                    <a:p>
                      <a:pPr algn="ctr">
                        <a:defRPr sz="1050" b="0">
                          <a:solidFill>
                            <a:srgbClr val="0F172A"/>
                          </a:solidFill>
                          <a:latin typeface="Times New Roman"/>
                        </a:defRPr>
                      </a:pPr>
                      <a:r>
                        <a:t>60.95%</a:t>
                      </a:r>
                    </a:p>
                  </a:txBody>
                  <a:tcPr>
                    <a:solidFill>
                      <a:srgbClr val="F1F5F9"/>
                    </a:solidFill>
                  </a:tcPr>
                </a:tc>
                <a:tc>
                  <a:txBody>
                    <a:bodyPr/>
                    <a:lstStyle/>
                    <a:p>
                      <a:pPr algn="ctr">
                        <a:defRPr sz="1050" b="0">
                          <a:solidFill>
                            <a:srgbClr val="0F172A"/>
                          </a:solidFill>
                          <a:latin typeface="Times New Roman"/>
                        </a:defRPr>
                      </a:pPr>
                      <a:r>
                        <a:t>27.76%</a:t>
                      </a:r>
                    </a:p>
                  </a:txBody>
                  <a:tcPr>
                    <a:solidFill>
                      <a:srgbClr val="F1F5F9"/>
                    </a:solidFill>
                  </a:tcPr>
                </a:tc>
                <a:tc>
                  <a:txBody>
                    <a:bodyPr/>
                    <a:lstStyle/>
                    <a:p>
                      <a:pPr algn="ctr">
                        <a:defRPr sz="1050" b="0">
                          <a:solidFill>
                            <a:srgbClr val="0F172A"/>
                          </a:solidFill>
                          <a:latin typeface="Times New Roman"/>
                        </a:defRPr>
                      </a:pPr>
                      <a:r>
                        <a:t>0.3822</a:t>
                      </a:r>
                    </a:p>
                  </a:txBody>
                  <a:tcPr>
                    <a:solidFill>
                      <a:srgbClr val="F1F5F9"/>
                    </a:solidFill>
                  </a:tcPr>
                </a:tc>
                <a:tc>
                  <a:txBody>
                    <a:bodyPr/>
                    <a:lstStyle/>
                    <a:p>
                      <a:pPr algn="ctr">
                        <a:defRPr sz="1050" b="0">
                          <a:solidFill>
                            <a:srgbClr val="0F172A"/>
                          </a:solidFill>
                          <a:latin typeface="Times New Roman"/>
                        </a:defRPr>
                      </a:pPr>
                      <a:r>
                        <a:t>371</a:t>
                      </a:r>
                    </a:p>
                  </a:txBody>
                  <a:tcPr>
                    <a:solidFill>
                      <a:srgbClr val="F1F5F9"/>
                    </a:solidFill>
                  </a:tcPr>
                </a:tc>
              </a:tr>
              <a:tr h="402336">
                <a:tc>
                  <a:txBody>
                    <a:bodyPr/>
                    <a:lstStyle/>
                    <a:p>
                      <a:pPr algn="l">
                        <a:defRPr sz="1050" b="0">
                          <a:solidFill>
                            <a:srgbClr val="0F172A"/>
                          </a:solidFill>
                          <a:latin typeface="Times New Roman"/>
                        </a:defRPr>
                      </a:pPr>
                      <a:r>
                        <a:t>2: TRUE (Tin thật)</a:t>
                      </a:r>
                    </a:p>
                  </a:txBody>
                  <a:tcPr>
                    <a:solidFill>
                      <a:srgbClr val="FFFFFF"/>
                    </a:solidFill>
                  </a:tcPr>
                </a:tc>
                <a:tc>
                  <a:txBody>
                    <a:bodyPr/>
                    <a:lstStyle/>
                    <a:p>
                      <a:pPr algn="ctr">
                        <a:defRPr sz="1050" b="0">
                          <a:solidFill>
                            <a:srgbClr val="0F172A"/>
                          </a:solidFill>
                          <a:latin typeface="Times New Roman"/>
                        </a:defRPr>
                      </a:pPr>
                      <a:r>
                        <a:t>61.56%</a:t>
                      </a:r>
                    </a:p>
                  </a:txBody>
                  <a:tcPr>
                    <a:solidFill>
                      <a:srgbClr val="FFFFFF"/>
                    </a:solidFill>
                  </a:tcPr>
                </a:tc>
                <a:tc>
                  <a:txBody>
                    <a:bodyPr/>
                    <a:lstStyle/>
                    <a:p>
                      <a:pPr algn="ctr">
                        <a:defRPr sz="1050" b="0">
                          <a:solidFill>
                            <a:srgbClr val="0F172A"/>
                          </a:solidFill>
                          <a:latin typeface="Times New Roman"/>
                        </a:defRPr>
                      </a:pPr>
                      <a:r>
                        <a:t>73.42%</a:t>
                      </a:r>
                    </a:p>
                  </a:txBody>
                  <a:tcPr>
                    <a:solidFill>
                      <a:srgbClr val="FFFFFF"/>
                    </a:solidFill>
                  </a:tcPr>
                </a:tc>
                <a:tc>
                  <a:txBody>
                    <a:bodyPr/>
                    <a:lstStyle/>
                    <a:p>
                      <a:pPr algn="ctr">
                        <a:defRPr sz="1050" b="0">
                          <a:solidFill>
                            <a:srgbClr val="0F172A"/>
                          </a:solidFill>
                          <a:latin typeface="Times New Roman"/>
                        </a:defRPr>
                      </a:pPr>
                      <a:r>
                        <a:t>0.6697</a:t>
                      </a:r>
                    </a:p>
                  </a:txBody>
                  <a:tcPr>
                    <a:solidFill>
                      <a:srgbClr val="FFFFFF"/>
                    </a:solidFill>
                  </a:tcPr>
                </a:tc>
                <a:tc>
                  <a:txBody>
                    <a:bodyPr/>
                    <a:lstStyle/>
                    <a:p>
                      <a:pPr algn="ctr">
                        <a:defRPr sz="1050" b="0">
                          <a:solidFill>
                            <a:srgbClr val="0F172A"/>
                          </a:solidFill>
                          <a:latin typeface="Times New Roman"/>
                        </a:defRPr>
                      </a:pPr>
                      <a:r>
                        <a:t>602</a:t>
                      </a:r>
                    </a:p>
                  </a:txBody>
                  <a:tcPr>
                    <a:solidFill>
                      <a:srgbClr val="FFFFFF"/>
                    </a:solidFill>
                  </a:tcPr>
                </a:tc>
              </a:tr>
              <a:tr h="402336">
                <a:tc>
                  <a:txBody>
                    <a:bodyPr/>
                    <a:lstStyle/>
                    <a:p>
                      <a:pPr algn="l">
                        <a:defRPr sz="1050" b="0">
                          <a:solidFill>
                            <a:srgbClr val="0F172A"/>
                          </a:solidFill>
                          <a:latin typeface="Times New Roman"/>
                        </a:defRPr>
                      </a:pPr>
                      <a:r>
                        <a:t>Weighted Avg / Accuracy</a:t>
                      </a:r>
                    </a:p>
                  </a:txBody>
                  <a:tcPr>
                    <a:solidFill>
                      <a:srgbClr val="F1F5F9"/>
                    </a:solidFill>
                  </a:tcPr>
                </a:tc>
                <a:tc>
                  <a:txBody>
                    <a:bodyPr/>
                    <a:lstStyle/>
                    <a:p>
                      <a:pPr algn="ctr">
                        <a:defRPr sz="1050" b="0">
                          <a:solidFill>
                            <a:srgbClr val="0F172A"/>
                          </a:solidFill>
                          <a:latin typeface="Times New Roman"/>
                        </a:defRPr>
                      </a:pPr>
                      <a:r>
                        <a:t>72.82%</a:t>
                      </a:r>
                    </a:p>
                  </a:txBody>
                  <a:tcPr>
                    <a:solidFill>
                      <a:srgbClr val="F1F5F9"/>
                    </a:solidFill>
                  </a:tcPr>
                </a:tc>
                <a:tc>
                  <a:txBody>
                    <a:bodyPr/>
                    <a:lstStyle/>
                    <a:p>
                      <a:pPr algn="ctr">
                        <a:defRPr sz="1050" b="0">
                          <a:solidFill>
                            <a:srgbClr val="0F172A"/>
                          </a:solidFill>
                          <a:latin typeface="Times New Roman"/>
                        </a:defRPr>
                      </a:pPr>
                      <a:r>
                        <a:t>73.61%</a:t>
                      </a:r>
                    </a:p>
                  </a:txBody>
                  <a:tcPr>
                    <a:solidFill>
                      <a:srgbClr val="F1F5F9"/>
                    </a:solidFill>
                  </a:tcPr>
                </a:tc>
                <a:tc>
                  <a:txBody>
                    <a:bodyPr/>
                    <a:lstStyle/>
                    <a:p>
                      <a:pPr algn="ctr">
                        <a:defRPr sz="1050" b="0">
                          <a:solidFill>
                            <a:srgbClr val="0F172A"/>
                          </a:solidFill>
                          <a:latin typeface="Times New Roman"/>
                        </a:defRPr>
                      </a:pPr>
                      <a:r>
                        <a:t>0.7202</a:t>
                      </a:r>
                    </a:p>
                  </a:txBody>
                  <a:tcPr>
                    <a:solidFill>
                      <a:srgbClr val="F1F5F9"/>
                    </a:solidFill>
                  </a:tcPr>
                </a:tc>
                <a:tc>
                  <a:txBody>
                    <a:bodyPr/>
                    <a:lstStyle/>
                    <a:p>
                      <a:pPr algn="ctr">
                        <a:defRPr sz="1050" b="0">
                          <a:solidFill>
                            <a:srgbClr val="0F172A"/>
                          </a:solidFill>
                          <a:latin typeface="Times New Roman"/>
                        </a:defRPr>
                      </a:pPr>
                      <a:r>
                        <a:t>2.296 mẫu</a:t>
                      </a:r>
                    </a:p>
                  </a:txBody>
                  <a:tcPr>
                    <a:solidFill>
                      <a:srgbClr val="F1F5F9"/>
                    </a:solidFill>
                  </a:tcPr>
                </a:tc>
              </a:tr>
            </a:tbl>
          </a:graphicData>
        </a:graphic>
      </p:graphicFrame>
      <p:sp>
        <p:nvSpPr>
          <p:cNvPr id="11" name="Rounded Rectangle 10"/>
          <p:cNvSpPr/>
          <p:nvPr/>
        </p:nvSpPr>
        <p:spPr>
          <a:xfrm>
            <a:off x="6126480" y="3657600"/>
            <a:ext cx="5303520" cy="2468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PHÂN TÍCH HIỆU NĂNG TỪNG NHÓM NHÃN</a:t>
            </a:r>
          </a:p>
          <a:p>
            <a:pPr>
              <a:spcAft>
                <a:spcPts val="600"/>
              </a:spcAft>
              <a:defRPr sz="1150">
                <a:solidFill>
                  <a:srgbClr val="0F172A"/>
                </a:solidFill>
                <a:latin typeface="Times New Roman"/>
              </a:defRPr>
            </a:pPr>
            <a:r>
              <a:t>• Nhóm 0 (FALSE): Bắt đúng 1.145 / 1.323 mẫu tin giả (Recall đạt 86.55%), F1-Score đạt 0.8379. Hệ thống phản ứng cực kỳ nhạy bén với các thông tin độc hại.</a:t>
            </a:r>
          </a:p>
          <a:p>
            <a:pPr>
              <a:spcAft>
                <a:spcPts val="600"/>
              </a:spcAft>
              <a:defRPr sz="1150">
                <a:solidFill>
                  <a:srgbClr val="0F172A"/>
                </a:solidFill>
                <a:latin typeface="Times New Roman"/>
              </a:defRPr>
            </a:pPr>
            <a:r>
              <a:t>• Nhóm 2 (TRUE): Nhận diện đúng 442 / 602 mẫu tin thật (Recall 73.42%), F1-Score đạt 0.6697, đảm bảo thông tin chuẩn xác không bị gắn cờ nhầm.</a:t>
            </a:r>
          </a:p>
          <a:p>
            <a:pPr>
              <a:spcAft>
                <a:spcPts val="600"/>
              </a:spcAft>
              <a:defRPr sz="1150">
                <a:solidFill>
                  <a:srgbClr val="0F172A"/>
                </a:solidFill>
                <a:latin typeface="Times New Roman"/>
              </a:defRPr>
            </a:pPr>
            <a:r>
              <a:t>• Nhóm 1 (MIXED): Recall chỉ đạt 27.76% (103 / 371 mẫu), F1-Score 0.3822. Đây là điểm nghẽn tự nhiên của bài toán do ranh giới nửa đúng - nửa sai cực kỳ mờ nhạt.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4.1.2. ĐÁNH GIÁ ĐỘ AN TOÀN HỌC MÁY &amp; PHÂN TÍCH LỖI THỨ BẬC</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23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LỖI LỆCH 1 BẬC (ORDINAL ERRORS)</a:t>
            </a:r>
          </a:p>
          <a:p>
            <a:pPr>
              <a:spcAft>
                <a:spcPts val="600"/>
              </a:spcAft>
              <a:defRPr sz="1150">
                <a:solidFill>
                  <a:srgbClr val="0F172A"/>
                </a:solidFill>
                <a:latin typeface="Times New Roman"/>
              </a:defRPr>
            </a:pPr>
            <a:r>
              <a:t>• Định nghĩa lỗi lệch 1 bậc:</a:t>
            </a:r>
          </a:p>
          <a:p>
            <a:pPr>
              <a:spcAft>
                <a:spcPts val="600"/>
              </a:spcAft>
              <a:defRPr sz="1150">
                <a:solidFill>
                  <a:srgbClr val="0F172A"/>
                </a:solidFill>
                <a:latin typeface="Times New Roman"/>
              </a:defRPr>
            </a:pPr>
            <a:r>
              <a:t>•   • Nhầm lẫn giữa Nhãn 0 (FALSE) và Nhãn 1 (MIXED): 31 mẫu FALSE đoán thành MIXED, 139 mẫu MIXED đoán thành FALSE.</a:t>
            </a:r>
          </a:p>
          <a:p>
            <a:pPr>
              <a:spcAft>
                <a:spcPts val="600"/>
              </a:spcAft>
              <a:defRPr sz="1150">
                <a:solidFill>
                  <a:srgbClr val="0F172A"/>
                </a:solidFill>
                <a:latin typeface="Times New Roman"/>
              </a:defRPr>
            </a:pPr>
            <a:r>
              <a:t>•   • Nhầm lẫn giữa Nhãn 1 (MIXED) và Nhãn 2 (TRUE): 129 mẫu MIXED đoán thành TRUE, 35 mẫu TRUE đoán thành MIXED.</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Đánh giá tính chấp nhận được:</a:t>
            </a:r>
          </a:p>
          <a:p>
            <a:pPr>
              <a:spcAft>
                <a:spcPts val="600"/>
              </a:spcAft>
              <a:defRPr sz="1150">
                <a:solidFill>
                  <a:srgbClr val="0F172A"/>
                </a:solidFill>
                <a:latin typeface="Times New Roman"/>
              </a:defRPr>
            </a:pPr>
            <a:r>
              <a:t>•   • Tổng số lỗi lệch 1 bậc là 334 mẫu (chiếm 55.1% tổng số lỗi sai).</a:t>
            </a:r>
          </a:p>
          <a:p>
            <a:pPr>
              <a:spcAft>
                <a:spcPts val="600"/>
              </a:spcAft>
              <a:defRPr sz="1150">
                <a:solidFill>
                  <a:srgbClr val="0F172A"/>
                </a:solidFill>
                <a:latin typeface="Times New Roman"/>
              </a:defRPr>
            </a:pPr>
            <a:r>
              <a:t>•   • Về mặt ngữ nghĩa, việc nhầm lẫn giữa 'tin giả' và 'tin nửa thật nửa giả' là sự chênh lệch có thể thông cảm, không gây khủng hoảng thông tin nghiêm trọng ngoài đời sống.</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DC2626"/>
                </a:solidFill>
                <a:latin typeface="Times New Roman"/>
              </a:defRPr>
            </a:pPr>
            <a:r>
              <a:t>LỖI ĐẢO CỰC NGUY HIỂM (POLARITY ERRORS)</a:t>
            </a:r>
          </a:p>
          <a:p>
            <a:pPr>
              <a:spcAft>
                <a:spcPts val="600"/>
              </a:spcAft>
              <a:defRPr sz="1150">
                <a:solidFill>
                  <a:srgbClr val="0F172A"/>
                </a:solidFill>
                <a:latin typeface="Times New Roman"/>
              </a:defRPr>
            </a:pPr>
            <a:r>
              <a:t>• Định nghĩa lỗi đảo cực 2 bậc (Cực kỳ nguy hiểm):</a:t>
            </a:r>
          </a:p>
          <a:p>
            <a:pPr>
              <a:spcAft>
                <a:spcPts val="600"/>
              </a:spcAft>
              <a:defRPr sz="1150">
                <a:solidFill>
                  <a:srgbClr val="0F172A"/>
                </a:solidFill>
                <a:latin typeface="Times New Roman"/>
              </a:defRPr>
            </a:pPr>
            <a:r>
              <a:t>•   • FALSE bị mô hình dự đoán thành TRUE: 147 mẫu (chiếm 11.11% tổng số mẫu FALSE thực tế).</a:t>
            </a:r>
          </a:p>
          <a:p>
            <a:pPr>
              <a:spcAft>
                <a:spcPts val="600"/>
              </a:spcAft>
              <a:defRPr sz="1150">
                <a:solidFill>
                  <a:srgbClr val="0F172A"/>
                </a:solidFill>
                <a:latin typeface="Times New Roman"/>
              </a:defRPr>
            </a:pPr>
            <a:r>
              <a:t>•   • TRUE bị mô hình dự đoán thành FALSE: 126 mẫu (chiếm 20.93% tổng số mẫu TRUE thực tế).</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Nguyên nhân bản chất:</a:t>
            </a:r>
          </a:p>
          <a:p>
            <a:pPr>
              <a:spcAft>
                <a:spcPts val="600"/>
              </a:spcAft>
              <a:defRPr sz="1150">
                <a:solidFill>
                  <a:srgbClr val="0F172A"/>
                </a:solidFill>
                <a:latin typeface="Times New Roman"/>
              </a:defRPr>
            </a:pPr>
            <a:r>
              <a:t>•   • Các chính trị gia có lịch sử nói dối nghiêm trọng đôi khi phát biểu một sự thật hiển nhiên (bẫy lịch sử người nói).</a:t>
            </a:r>
          </a:p>
          <a:p>
            <a:pPr>
              <a:spcAft>
                <a:spcPts val="600"/>
              </a:spcAft>
              <a:defRPr sz="1150">
                <a:solidFill>
                  <a:srgbClr val="0F172A"/>
                </a:solidFill>
                <a:latin typeface="Times New Roman"/>
              </a:defRPr>
            </a:pPr>
            <a:r>
              <a:t>•   • Ngược lại, chính trị gia có uy tín rất cao thỉnh thoảng trích dẫn số liệu sai lệch hoặc chưa được kiểm chứng.</a:t>
            </a:r>
          </a:p>
          <a:p>
            <a:pPr>
              <a:spcAft>
                <a:spcPts val="600"/>
              </a:spcAft>
              <a:defRPr sz="1150">
                <a:solidFill>
                  <a:srgbClr val="0F172A"/>
                </a:solidFill>
                <a:latin typeface="Times New Roman"/>
              </a:defRPr>
            </a:pPr>
            <a:r>
              <a:t>=&gt; Cần kết hợp Fact-Checking bên ngoài và mô hình ngôn ngữ lớn (LLM) để giải quyết các trường hợp ngoại lệ này.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2000" b="1">
                <a:solidFill>
                  <a:srgbClr val="2563EB"/>
                </a:solidFill>
                <a:latin typeface="Times New Roman"/>
              </a:defRPr>
            </a:pPr>
            <a:r>
              <a:t>MỤC 4.2</a:t>
            </a:r>
          </a:p>
          <a:p>
            <a:pPr>
              <a:spcBef>
                <a:spcPts val="1000"/>
              </a:spcBef>
              <a:defRPr sz="3200" b="1">
                <a:solidFill>
                  <a:srgbClr val="FFFFFF"/>
                </a:solidFill>
                <a:latin typeface="Times New Roman"/>
              </a:defRPr>
            </a:pPr>
            <a:r>
              <a:t>TIẾN TRÌNH CẢI TIẾN TÍCH LŨY ĐẶC TRƯNG</a:t>
            </a:r>
            <a:br/>
            <a:r>
              <a:t>(ABLATION STUDY 5 CHẶNG)</a:t>
            </a:r>
          </a:p>
          <a:p>
            <a:pPr>
              <a:spcBef>
                <a:spcPts val="1600"/>
              </a:spcBef>
              <a:defRPr sz="1500">
                <a:solidFill>
                  <a:srgbClr val="94A3B8"/>
                </a:solidFill>
                <a:latin typeface="Times New Roman"/>
              </a:defRPr>
            </a:pPr>
            <a:r>
              <a:t>Bóc tách từng khối thuộc tính để đo lường chính xác đóng góp của từng kỹ thuật vào hiệu năng tổng thể</a:t>
            </a:r>
          </a:p>
        </p:txBody>
      </p:sp>
      <p:sp>
        <p:nvSpPr>
          <p:cNvPr id="4" name="Rectangle 3"/>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6" name="TextBox 5"/>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24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4.2. TIẾN TRÌNH 5 CHẶNG TÍCH LŨY ĐẶC TRƯNG (ABLATION STUDY)</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25 / 32</a:t>
            </a:r>
          </a:p>
        </p:txBody>
      </p:sp>
      <p:graphicFrame>
        <p:nvGraphicFramePr>
          <p:cNvPr id="9" name="Table 8"/>
          <p:cNvGraphicFramePr>
            <a:graphicFrameLocks noGrp="1"/>
          </p:cNvGraphicFramePr>
          <p:nvPr/>
        </p:nvGraphicFramePr>
        <p:xfrm>
          <a:off x="731520" y="1463040"/>
          <a:ext cx="5669280" cy="4663440"/>
        </p:xfrm>
        <a:graphic>
          <a:graphicData uri="http://schemas.openxmlformats.org/drawingml/2006/table">
            <a:tbl>
              <a:tblPr firstRow="1" bandRow="1">
                <a:tableStyleId>{5C22544A-7EE6-4342-B048-85BDC9FD1C3A}</a:tableStyleId>
              </a:tblPr>
              <a:tblGrid>
                <a:gridCol w="1005840"/>
                <a:gridCol w="1920240"/>
                <a:gridCol w="822960"/>
                <a:gridCol w="1005840"/>
                <a:gridCol w="914400"/>
              </a:tblGrid>
              <a:tr h="777240">
                <a:tc>
                  <a:txBody>
                    <a:bodyPr/>
                    <a:lstStyle/>
                    <a:p>
                      <a:pPr algn="ctr">
                        <a:defRPr sz="1100" b="1">
                          <a:solidFill>
                            <a:srgbClr val="FFFFFF"/>
                          </a:solidFill>
                          <a:latin typeface="Times New Roman"/>
                        </a:defRPr>
                      </a:pPr>
                      <a:r>
                        <a:t>Giai đoạn</a:t>
                      </a:r>
                    </a:p>
                  </a:txBody>
                  <a:tcPr>
                    <a:solidFill>
                      <a:srgbClr val="1E3A8A"/>
                    </a:solidFill>
                  </a:tcPr>
                </a:tc>
                <a:tc>
                  <a:txBody>
                    <a:bodyPr/>
                    <a:lstStyle/>
                    <a:p>
                      <a:pPr algn="ctr">
                        <a:defRPr sz="1100" b="1">
                          <a:solidFill>
                            <a:srgbClr val="FFFFFF"/>
                          </a:solidFill>
                          <a:latin typeface="Times New Roman"/>
                        </a:defRPr>
                      </a:pPr>
                      <a:r>
                        <a:t>Khối đặc trưng tích lũy</a:t>
                      </a:r>
                    </a:p>
                  </a:txBody>
                  <a:tcPr>
                    <a:solidFill>
                      <a:srgbClr val="1E3A8A"/>
                    </a:solidFill>
                  </a:tcPr>
                </a:tc>
                <a:tc>
                  <a:txBody>
                    <a:bodyPr/>
                    <a:lstStyle/>
                    <a:p>
                      <a:pPr algn="ctr">
                        <a:defRPr sz="1100" b="1">
                          <a:solidFill>
                            <a:srgbClr val="FFFFFF"/>
                          </a:solidFill>
                          <a:latin typeface="Times New Roman"/>
                        </a:defRPr>
                      </a:pPr>
                      <a:r>
                        <a:t>Tổng chiều</a:t>
                      </a:r>
                    </a:p>
                  </a:txBody>
                  <a:tcPr>
                    <a:solidFill>
                      <a:srgbClr val="1E3A8A"/>
                    </a:solidFill>
                  </a:tcPr>
                </a:tc>
                <a:tc>
                  <a:txBody>
                    <a:bodyPr/>
                    <a:lstStyle/>
                    <a:p>
                      <a:pPr algn="ctr">
                        <a:defRPr sz="1100" b="1">
                          <a:solidFill>
                            <a:srgbClr val="FFFFFF"/>
                          </a:solidFill>
                          <a:latin typeface="Times New Roman"/>
                        </a:defRPr>
                      </a:pPr>
                      <a:r>
                        <a:t>Test Accuracy</a:t>
                      </a:r>
                    </a:p>
                  </a:txBody>
                  <a:tcPr>
                    <a:solidFill>
                      <a:srgbClr val="1E3A8A"/>
                    </a:solidFill>
                  </a:tcPr>
                </a:tc>
                <a:tc>
                  <a:txBody>
                    <a:bodyPr/>
                    <a:lstStyle/>
                    <a:p>
                      <a:pPr algn="ctr">
                        <a:defRPr sz="1100" b="1">
                          <a:solidFill>
                            <a:srgbClr val="FFFFFF"/>
                          </a:solidFill>
                          <a:latin typeface="Times New Roman"/>
                        </a:defRPr>
                      </a:pPr>
                      <a:r>
                        <a:t>Mức cải thiện</a:t>
                      </a:r>
                    </a:p>
                  </a:txBody>
                  <a:tcPr>
                    <a:solidFill>
                      <a:srgbClr val="1E3A8A"/>
                    </a:solidFill>
                  </a:tcPr>
                </a:tc>
              </a:tr>
              <a:tr h="777240">
                <a:tc>
                  <a:txBody>
                    <a:bodyPr/>
                    <a:lstStyle/>
                    <a:p>
                      <a:pPr algn="l">
                        <a:defRPr sz="1050" b="0">
                          <a:solidFill>
                            <a:srgbClr val="0F172A"/>
                          </a:solidFill>
                          <a:latin typeface="Times New Roman"/>
                        </a:defRPr>
                      </a:pPr>
                      <a:r>
                        <a:t>Giai đoạn 1</a:t>
                      </a:r>
                    </a:p>
                  </a:txBody>
                  <a:tcPr>
                    <a:solidFill>
                      <a:srgbClr val="FFFFFF"/>
                    </a:solidFill>
                  </a:tcPr>
                </a:tc>
                <a:tc>
                  <a:txBody>
                    <a:bodyPr/>
                    <a:lstStyle/>
                    <a:p>
                      <a:pPr algn="l">
                        <a:defRPr sz="1050" b="0">
                          <a:solidFill>
                            <a:srgbClr val="0F172A"/>
                          </a:solidFill>
                          <a:latin typeface="Times New Roman"/>
                        </a:defRPr>
                      </a:pPr>
                      <a:r>
                        <a:t>TF-IDF Statement thuần (Text-only)</a:t>
                      </a:r>
                    </a:p>
                  </a:txBody>
                  <a:tcPr>
                    <a:solidFill>
                      <a:srgbClr val="FFFFFF"/>
                    </a:solidFill>
                  </a:tcPr>
                </a:tc>
                <a:tc>
                  <a:txBody>
                    <a:bodyPr/>
                    <a:lstStyle/>
                    <a:p>
                      <a:pPr algn="ctr">
                        <a:defRPr sz="1050" b="0">
                          <a:solidFill>
                            <a:srgbClr val="0F172A"/>
                          </a:solidFill>
                          <a:latin typeface="Times New Roman"/>
                        </a:defRPr>
                      </a:pPr>
                      <a:r>
                        <a:t>25.000</a:t>
                      </a:r>
                    </a:p>
                  </a:txBody>
                  <a:tcPr>
                    <a:solidFill>
                      <a:srgbClr val="FFFFFF"/>
                    </a:solidFill>
                  </a:tcPr>
                </a:tc>
                <a:tc>
                  <a:txBody>
                    <a:bodyPr/>
                    <a:lstStyle/>
                    <a:p>
                      <a:pPr algn="ctr">
                        <a:defRPr sz="1050" b="0">
                          <a:solidFill>
                            <a:srgbClr val="0F172A"/>
                          </a:solidFill>
                          <a:latin typeface="Times New Roman"/>
                        </a:defRPr>
                      </a:pPr>
                      <a:r>
                        <a:t>58.23%</a:t>
                      </a:r>
                    </a:p>
                  </a:txBody>
                  <a:tcPr>
                    <a:solidFill>
                      <a:srgbClr val="FFFFFF"/>
                    </a:solidFill>
                  </a:tcPr>
                </a:tc>
                <a:tc>
                  <a:txBody>
                    <a:bodyPr/>
                    <a:lstStyle/>
                    <a:p>
                      <a:pPr algn="ctr">
                        <a:defRPr sz="1050" b="0">
                          <a:solidFill>
                            <a:srgbClr val="0F172A"/>
                          </a:solidFill>
                          <a:latin typeface="Times New Roman"/>
                        </a:defRPr>
                      </a:pPr>
                      <a:r>
                        <a:t>Mốc sàn ban đầu</a:t>
                      </a:r>
                    </a:p>
                  </a:txBody>
                  <a:tcPr>
                    <a:solidFill>
                      <a:srgbClr val="FFFFFF"/>
                    </a:solidFill>
                  </a:tcPr>
                </a:tc>
              </a:tr>
              <a:tr h="777240">
                <a:tc>
                  <a:txBody>
                    <a:bodyPr/>
                    <a:lstStyle/>
                    <a:p>
                      <a:pPr algn="l">
                        <a:defRPr sz="1050" b="0">
                          <a:solidFill>
                            <a:srgbClr val="0F172A"/>
                          </a:solidFill>
                          <a:latin typeface="Times New Roman"/>
                        </a:defRPr>
                      </a:pPr>
                      <a:r>
                        <a:t>Giai đoạn 2</a:t>
                      </a:r>
                    </a:p>
                  </a:txBody>
                  <a:tcPr>
                    <a:solidFill>
                      <a:srgbClr val="F1F5F9"/>
                    </a:solidFill>
                  </a:tcPr>
                </a:tc>
                <a:tc>
                  <a:txBody>
                    <a:bodyPr/>
                    <a:lstStyle/>
                    <a:p>
                      <a:pPr algn="l">
                        <a:defRPr sz="1050" b="0">
                          <a:solidFill>
                            <a:srgbClr val="0F172A"/>
                          </a:solidFill>
                          <a:latin typeface="Times New Roman"/>
                        </a:defRPr>
                      </a:pPr>
                      <a:r>
                        <a:t>+ Stylometrics (5 đặc trưng cú pháp)</a:t>
                      </a:r>
                    </a:p>
                  </a:txBody>
                  <a:tcPr>
                    <a:solidFill>
                      <a:srgbClr val="F1F5F9"/>
                    </a:solidFill>
                  </a:tcPr>
                </a:tc>
                <a:tc>
                  <a:txBody>
                    <a:bodyPr/>
                    <a:lstStyle/>
                    <a:p>
                      <a:pPr algn="ctr">
                        <a:defRPr sz="1050" b="0">
                          <a:solidFill>
                            <a:srgbClr val="0F172A"/>
                          </a:solidFill>
                          <a:latin typeface="Times New Roman"/>
                        </a:defRPr>
                      </a:pPr>
                      <a:r>
                        <a:t>25.005</a:t>
                      </a:r>
                    </a:p>
                  </a:txBody>
                  <a:tcPr>
                    <a:solidFill>
                      <a:srgbClr val="F1F5F9"/>
                    </a:solidFill>
                  </a:tcPr>
                </a:tc>
                <a:tc>
                  <a:txBody>
                    <a:bodyPr/>
                    <a:lstStyle/>
                    <a:p>
                      <a:pPr algn="ctr">
                        <a:defRPr sz="1050" b="0">
                          <a:solidFill>
                            <a:srgbClr val="0F172A"/>
                          </a:solidFill>
                          <a:latin typeface="Times New Roman"/>
                        </a:defRPr>
                      </a:pPr>
                      <a:r>
                        <a:t>57.93%</a:t>
                      </a:r>
                    </a:p>
                  </a:txBody>
                  <a:tcPr>
                    <a:solidFill>
                      <a:srgbClr val="F1F5F9"/>
                    </a:solidFill>
                  </a:tcPr>
                </a:tc>
                <a:tc>
                  <a:txBody>
                    <a:bodyPr/>
                    <a:lstStyle/>
                    <a:p>
                      <a:pPr algn="ctr">
                        <a:defRPr sz="1050" b="0">
                          <a:solidFill>
                            <a:srgbClr val="0F172A"/>
                          </a:solidFill>
                          <a:latin typeface="Times New Roman"/>
                        </a:defRPr>
                      </a:pPr>
                      <a:r>
                        <a:t>-0.30% (Nhiễu nhẹ)</a:t>
                      </a:r>
                    </a:p>
                  </a:txBody>
                  <a:tcPr>
                    <a:solidFill>
                      <a:srgbClr val="F1F5F9"/>
                    </a:solidFill>
                  </a:tcPr>
                </a:tc>
              </a:tr>
              <a:tr h="777240">
                <a:tc>
                  <a:txBody>
                    <a:bodyPr/>
                    <a:lstStyle/>
                    <a:p>
                      <a:pPr algn="l">
                        <a:defRPr sz="1050" b="0">
                          <a:solidFill>
                            <a:srgbClr val="0F172A"/>
                          </a:solidFill>
                          <a:latin typeface="Times New Roman"/>
                        </a:defRPr>
                      </a:pPr>
                      <a:r>
                        <a:t>Giai đoạn 3</a:t>
                      </a:r>
                    </a:p>
                  </a:txBody>
                  <a:tcPr>
                    <a:solidFill>
                      <a:srgbClr val="FFFFFF"/>
                    </a:solidFill>
                  </a:tcPr>
                </a:tc>
                <a:tc>
                  <a:txBody>
                    <a:bodyPr/>
                    <a:lstStyle/>
                    <a:p>
                      <a:pPr algn="l">
                        <a:defRPr sz="1050" b="0">
                          <a:solidFill>
                            <a:srgbClr val="0F172A"/>
                          </a:solidFill>
                          <a:latin typeface="Times New Roman"/>
                        </a:defRPr>
                      </a:pPr>
                      <a:r>
                        <a:t>+ Speaker, Subject, Context (Combined Text)</a:t>
                      </a:r>
                    </a:p>
                  </a:txBody>
                  <a:tcPr>
                    <a:solidFill>
                      <a:srgbClr val="FFFFFF"/>
                    </a:solidFill>
                  </a:tcPr>
                </a:tc>
                <a:tc>
                  <a:txBody>
                    <a:bodyPr/>
                    <a:lstStyle/>
                    <a:p>
                      <a:pPr algn="ctr">
                        <a:defRPr sz="1050" b="0">
                          <a:solidFill>
                            <a:srgbClr val="0F172A"/>
                          </a:solidFill>
                          <a:latin typeface="Times New Roman"/>
                        </a:defRPr>
                      </a:pPr>
                      <a:r>
                        <a:t>25.005</a:t>
                      </a:r>
                    </a:p>
                  </a:txBody>
                  <a:tcPr>
                    <a:solidFill>
                      <a:srgbClr val="FFFFFF"/>
                    </a:solidFill>
                  </a:tcPr>
                </a:tc>
                <a:tc>
                  <a:txBody>
                    <a:bodyPr/>
                    <a:lstStyle/>
                    <a:p>
                      <a:pPr algn="ctr">
                        <a:defRPr sz="1050" b="0">
                          <a:solidFill>
                            <a:srgbClr val="0F172A"/>
                          </a:solidFill>
                          <a:latin typeface="Times New Roman"/>
                        </a:defRPr>
                      </a:pPr>
                      <a:r>
                        <a:t>58.41%</a:t>
                      </a:r>
                    </a:p>
                  </a:txBody>
                  <a:tcPr>
                    <a:solidFill>
                      <a:srgbClr val="FFFFFF"/>
                    </a:solidFill>
                  </a:tcPr>
                </a:tc>
                <a:tc>
                  <a:txBody>
                    <a:bodyPr/>
                    <a:lstStyle/>
                    <a:p>
                      <a:pPr algn="ctr">
                        <a:defRPr sz="1050" b="0">
                          <a:solidFill>
                            <a:srgbClr val="0F172A"/>
                          </a:solidFill>
                          <a:latin typeface="Times New Roman"/>
                        </a:defRPr>
                      </a:pPr>
                      <a:r>
                        <a:t>+0.48% (Học ngữ cảnh)</a:t>
                      </a:r>
                    </a:p>
                  </a:txBody>
                  <a:tcPr>
                    <a:solidFill>
                      <a:srgbClr val="FFFFFF"/>
                    </a:solidFill>
                  </a:tcPr>
                </a:tc>
              </a:tr>
              <a:tr h="777240">
                <a:tc>
                  <a:txBody>
                    <a:bodyPr/>
                    <a:lstStyle/>
                    <a:p>
                      <a:pPr algn="l">
                        <a:defRPr sz="1050" b="0">
                          <a:solidFill>
                            <a:srgbClr val="0F172A"/>
                          </a:solidFill>
                          <a:latin typeface="Times New Roman"/>
                        </a:defRPr>
                      </a:pPr>
                      <a:r>
                        <a:t>Giai đoạn 4</a:t>
                      </a:r>
                    </a:p>
                  </a:txBody>
                  <a:tcPr>
                    <a:solidFill>
                      <a:srgbClr val="F1F5F9"/>
                    </a:solidFill>
                  </a:tcPr>
                </a:tc>
                <a:tc>
                  <a:txBody>
                    <a:bodyPr/>
                    <a:lstStyle/>
                    <a:p>
                      <a:pPr algn="l">
                        <a:defRPr sz="1050" b="0">
                          <a:solidFill>
                            <a:srgbClr val="0F172A"/>
                          </a:solidFill>
                          <a:latin typeface="Times New Roman"/>
                        </a:defRPr>
                      </a:pPr>
                      <a:r>
                        <a:t>+ 6 cột lịch sử kiểm chứng gốc (*_counts)</a:t>
                      </a:r>
                    </a:p>
                  </a:txBody>
                  <a:tcPr>
                    <a:solidFill>
                      <a:srgbClr val="F1F5F9"/>
                    </a:solidFill>
                  </a:tcPr>
                </a:tc>
                <a:tc>
                  <a:txBody>
                    <a:bodyPr/>
                    <a:lstStyle/>
                    <a:p>
                      <a:pPr algn="ctr">
                        <a:defRPr sz="1050" b="0">
                          <a:solidFill>
                            <a:srgbClr val="0F172A"/>
                          </a:solidFill>
                          <a:latin typeface="Times New Roman"/>
                        </a:defRPr>
                      </a:pPr>
                      <a:r>
                        <a:t>25.011</a:t>
                      </a:r>
                    </a:p>
                  </a:txBody>
                  <a:tcPr>
                    <a:solidFill>
                      <a:srgbClr val="F1F5F9"/>
                    </a:solidFill>
                  </a:tcPr>
                </a:tc>
                <a:tc>
                  <a:txBody>
                    <a:bodyPr/>
                    <a:lstStyle/>
                    <a:p>
                      <a:pPr algn="ctr">
                        <a:defRPr sz="1050" b="0">
                          <a:solidFill>
                            <a:srgbClr val="0F172A"/>
                          </a:solidFill>
                          <a:latin typeface="Times New Roman"/>
                        </a:defRPr>
                      </a:pPr>
                      <a:r>
                        <a:t>59.45%</a:t>
                      </a:r>
                    </a:p>
                  </a:txBody>
                  <a:tcPr>
                    <a:solidFill>
                      <a:srgbClr val="F1F5F9"/>
                    </a:solidFill>
                  </a:tcPr>
                </a:tc>
                <a:tc>
                  <a:txBody>
                    <a:bodyPr/>
                    <a:lstStyle/>
                    <a:p>
                      <a:pPr algn="ctr">
                        <a:defRPr sz="1050" b="0">
                          <a:solidFill>
                            <a:srgbClr val="0F172A"/>
                          </a:solidFill>
                          <a:latin typeface="Times New Roman"/>
                        </a:defRPr>
                      </a:pPr>
                      <a:r>
                        <a:t>+1.04% (Tín hiệu lịch sử)</a:t>
                      </a:r>
                    </a:p>
                  </a:txBody>
                  <a:tcPr>
                    <a:solidFill>
                      <a:srgbClr val="F1F5F9"/>
                    </a:solidFill>
                  </a:tcPr>
                </a:tc>
              </a:tr>
              <a:tr h="777240">
                <a:tc>
                  <a:txBody>
                    <a:bodyPr/>
                    <a:lstStyle/>
                    <a:p>
                      <a:pPr algn="l">
                        <a:defRPr sz="1050" b="1">
                          <a:solidFill>
                            <a:srgbClr val="0F172A"/>
                          </a:solidFill>
                          <a:latin typeface="Times New Roman"/>
                        </a:defRPr>
                      </a:pPr>
                      <a:r>
                        <a:t>Giai đoạn 5</a:t>
                      </a:r>
                    </a:p>
                  </a:txBody>
                  <a:tcPr>
                    <a:solidFill>
                      <a:srgbClr val="DCFCE7"/>
                    </a:solidFill>
                  </a:tcPr>
                </a:tc>
                <a:tc>
                  <a:txBody>
                    <a:bodyPr/>
                    <a:lstStyle/>
                    <a:p>
                      <a:pPr algn="l">
                        <a:defRPr sz="1050" b="1">
                          <a:solidFill>
                            <a:srgbClr val="0F172A"/>
                          </a:solidFill>
                          <a:latin typeface="Times New Roman"/>
                        </a:defRPr>
                      </a:pPr>
                      <a:r>
                        <a:t>+ Toàn diện đặc trưng: Trust Score &amp; Net Truth</a:t>
                      </a:r>
                    </a:p>
                  </a:txBody>
                  <a:tcPr>
                    <a:solidFill>
                      <a:srgbClr val="DCFCE7"/>
                    </a:solidFill>
                  </a:tcPr>
                </a:tc>
                <a:tc>
                  <a:txBody>
                    <a:bodyPr/>
                    <a:lstStyle/>
                    <a:p>
                      <a:pPr algn="ctr">
                        <a:defRPr sz="1050" b="1">
                          <a:solidFill>
                            <a:srgbClr val="0F172A"/>
                          </a:solidFill>
                          <a:latin typeface="Times New Roman"/>
                        </a:defRPr>
                      </a:pPr>
                      <a:r>
                        <a:t>25.013</a:t>
                      </a:r>
                    </a:p>
                  </a:txBody>
                  <a:tcPr>
                    <a:solidFill>
                      <a:srgbClr val="DCFCE7"/>
                    </a:solidFill>
                  </a:tcPr>
                </a:tc>
                <a:tc>
                  <a:txBody>
                    <a:bodyPr/>
                    <a:lstStyle/>
                    <a:p>
                      <a:pPr algn="ctr">
                        <a:defRPr sz="1050" b="1">
                          <a:solidFill>
                            <a:srgbClr val="0F172A"/>
                          </a:solidFill>
                          <a:latin typeface="Times New Roman"/>
                        </a:defRPr>
                      </a:pPr>
                      <a:r>
                        <a:t>65.98% (LR)</a:t>
                      </a:r>
                    </a:p>
                    <a:p>
                      <a:r>
                        <a:t>73.61% (Ens)</a:t>
                      </a:r>
                    </a:p>
                  </a:txBody>
                  <a:tcPr>
                    <a:solidFill>
                      <a:srgbClr val="DCFCE7"/>
                    </a:solidFill>
                  </a:tcPr>
                </a:tc>
                <a:tc>
                  <a:txBody>
                    <a:bodyPr/>
                    <a:lstStyle/>
                    <a:p>
                      <a:pPr algn="ctr">
                        <a:defRPr sz="1050" b="1">
                          <a:solidFill>
                            <a:srgbClr val="0F172A"/>
                          </a:solidFill>
                          <a:latin typeface="Times New Roman"/>
                        </a:defRPr>
                      </a:pPr>
                      <a:r>
                        <a:t>+7.75 điểm (LR)</a:t>
                      </a:r>
                    </a:p>
                    <a:p>
                      <a:r>
                        <a:t>+15.38 điểm (Ensemble)</a:t>
                      </a:r>
                    </a:p>
                  </a:txBody>
                  <a:tcPr>
                    <a:solidFill>
                      <a:srgbClr val="DCFCE7"/>
                    </a:solidFill>
                  </a:tcPr>
                </a:tc>
              </a:tr>
            </a:tbl>
          </a:graphicData>
        </a:graphic>
      </p:graphicFrame>
      <p:pic>
        <p:nvPicPr>
          <p:cNvPr id="10" name="Picture 9" descr="hinh4_4_ablation_study.png"/>
          <p:cNvPicPr>
            <a:picLocks noChangeAspect="1"/>
          </p:cNvPicPr>
          <p:nvPr/>
        </p:nvPicPr>
        <p:blipFill>
          <a:blip r:embed="rId3"/>
          <a:stretch>
            <a:fillRect/>
          </a:stretch>
        </p:blipFill>
        <p:spPr>
          <a:xfrm>
            <a:off x="6583680" y="1463040"/>
            <a:ext cx="4846320" cy="2850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2000" b="1">
                <a:solidFill>
                  <a:srgbClr val="2563EB"/>
                </a:solidFill>
                <a:latin typeface="Times New Roman"/>
              </a:defRPr>
            </a:pPr>
            <a:r>
              <a:t>MỤC 4.3</a:t>
            </a:r>
          </a:p>
          <a:p>
            <a:pPr>
              <a:spcBef>
                <a:spcPts val="1000"/>
              </a:spcBef>
              <a:defRPr sz="3200" b="1">
                <a:solidFill>
                  <a:srgbClr val="FFFFFF"/>
                </a:solidFill>
                <a:latin typeface="Times New Roman"/>
              </a:defRPr>
            </a:pPr>
            <a:r>
              <a:t>PHÂN TÍCH TẦM QUAN TRỌNG CỦA ĐẶC TRƯNG</a:t>
            </a:r>
            <a:br/>
            <a:r>
              <a:t>(FEATURE IMPORTANCE ANALYSIS)</a:t>
            </a:r>
          </a:p>
          <a:p>
            <a:pPr>
              <a:spcBef>
                <a:spcPts val="1600"/>
              </a:spcBef>
              <a:defRPr sz="1500">
                <a:solidFill>
                  <a:srgbClr val="94A3B8"/>
                </a:solidFill>
                <a:latin typeface="Times New Roman"/>
              </a:defRPr>
            </a:pPr>
            <a:r>
              <a:t>Bóc tách hộp đen ra quyết định của mô hình cây XGBoost dựa trên Gain và Gini Impurity Decrease</a:t>
            </a:r>
          </a:p>
        </p:txBody>
      </p:sp>
      <p:sp>
        <p:nvSpPr>
          <p:cNvPr id="4" name="Rectangle 3"/>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6" name="TextBox 5"/>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26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4.3. BÓC TÁCH HỘP ĐEN RA QUYẾT ĐỊNH CỦA XGBOOST</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27 / 32</a:t>
            </a:r>
          </a:p>
        </p:txBody>
      </p:sp>
      <p:pic>
        <p:nvPicPr>
          <p:cNvPr id="9" name="Picture 8" descr="hinh4_3_feature_importance.png"/>
          <p:cNvPicPr>
            <a:picLocks noChangeAspect="1"/>
          </p:cNvPicPr>
          <p:nvPr/>
        </p:nvPicPr>
        <p:blipFill>
          <a:blip r:embed="rId3"/>
          <a:stretch>
            <a:fillRect/>
          </a:stretch>
        </p:blipFill>
        <p:spPr>
          <a:xfrm>
            <a:off x="731520" y="1463040"/>
            <a:ext cx="5486400" cy="3566160"/>
          </a:xfrm>
          <a:prstGeom prst="rect">
            <a:avLst/>
          </a:prstGeom>
        </p:spPr>
      </p:pic>
      <p:sp>
        <p:nvSpPr>
          <p:cNvPr id="10" name="Rounded Rectangle 9"/>
          <p:cNvSpPr/>
          <p:nvPr/>
        </p:nvSpPr>
        <p:spPr>
          <a:xfrm>
            <a:off x="6400800" y="1463040"/>
            <a:ext cx="502920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KẾT LUẬN TỪ TẦM QUAN TRỌNG ĐẶC TRƯNG</a:t>
            </a:r>
          </a:p>
          <a:p>
            <a:pPr>
              <a:spcAft>
                <a:spcPts val="600"/>
              </a:spcAft>
              <a:defRPr sz="1150">
                <a:solidFill>
                  <a:srgbClr val="0F172A"/>
                </a:solidFill>
                <a:latin typeface="Times New Roman"/>
              </a:defRPr>
            </a:pPr>
            <a:r>
              <a:t>• 1. Net Truth chi phối số 1 (Điểm quan trọng: 0.0213):</a:t>
            </a:r>
          </a:p>
          <a:p>
            <a:pPr>
              <a:spcAft>
                <a:spcPts val="600"/>
              </a:spcAft>
              <a:defRPr sz="1150">
                <a:solidFill>
                  <a:srgbClr val="0F172A"/>
                </a:solidFill>
                <a:latin typeface="Times New Roman"/>
              </a:defRPr>
            </a:pPr>
            <a:r>
              <a:t>•   Thặng dư sự thật là đặc trưng mạnh nhất toàn hệ thống, tạo ranh giới phân cách sâu sắc giữa người uy tín và người chuyên dối trá.</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2. Trust Score giữ vị trí số 2 (Điểm quan trọng: 0.0166):</a:t>
            </a:r>
          </a:p>
          <a:p>
            <a:pPr>
              <a:spcAft>
                <a:spcPts val="600"/>
              </a:spcAft>
              <a:defRPr sz="1150">
                <a:solidFill>
                  <a:srgbClr val="0F172A"/>
                </a:solidFill>
                <a:latin typeface="Times New Roman"/>
              </a:defRPr>
            </a:pPr>
            <a:r>
              <a:t>•   Xác suất nói thật làm trơn Laplace là căn cứ then chốt giúp mô hình định lượng độ tin cậy của phát biểu.</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3. Các cột lịch sử gốc chiếm lĩnh Top 3 - Top 6:</a:t>
            </a:r>
          </a:p>
          <a:p>
            <a:pPr>
              <a:spcAft>
                <a:spcPts val="600"/>
              </a:spcAft>
              <a:defRPr sz="1150">
                <a:solidFill>
                  <a:srgbClr val="0F172A"/>
                </a:solidFill>
                <a:latin typeface="Times New Roman"/>
              </a:defRPr>
            </a:pPr>
            <a:r>
              <a:t>•   half_true_counts (0.0072), false_counts (0.0050), pants_on_fire_counts (0.0041).</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4. Tín hiệu văn bản TF-IDF chỉ xuất hiện từ Top 10 trở đi:</a:t>
            </a:r>
          </a:p>
          <a:p>
            <a:pPr>
              <a:spcAft>
                <a:spcPts val="600"/>
              </a:spcAft>
              <a:defRPr sz="1150">
                <a:solidFill>
                  <a:srgbClr val="0F172A"/>
                </a:solidFill>
                <a:latin typeface="Times New Roman"/>
              </a:defRPr>
            </a:pPr>
            <a:r>
              <a:t>•   Các từ khóa như 'border', 'obama', 'tax' tuy hữu ích nhưng vai trò phân loại luôn đứng sau uy tín lịch sử của người nói.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4.4. BẢNG TỔNG HỢP ĐỐI SÁNH TOÀN DIỆN CÁC MÔ HÌNH</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28 / 32</a:t>
            </a:r>
          </a:p>
        </p:txBody>
      </p:sp>
      <p:graphicFrame>
        <p:nvGraphicFramePr>
          <p:cNvPr id="9" name="Table 8"/>
          <p:cNvGraphicFramePr>
            <a:graphicFrameLocks noGrp="1"/>
          </p:cNvGraphicFramePr>
          <p:nvPr/>
        </p:nvGraphicFramePr>
        <p:xfrm>
          <a:off x="731520" y="1463040"/>
          <a:ext cx="10698480" cy="2926080"/>
        </p:xfrm>
        <a:graphic>
          <a:graphicData uri="http://schemas.openxmlformats.org/drawingml/2006/table">
            <a:tbl>
              <a:tblPr firstRow="1" bandRow="1">
                <a:tableStyleId>{5C22544A-7EE6-4342-B048-85BDC9FD1C3A}</a:tableStyleId>
              </a:tblPr>
              <a:tblGrid>
                <a:gridCol w="2286000"/>
                <a:gridCol w="2286000"/>
                <a:gridCol w="1463040"/>
                <a:gridCol w="1463040"/>
                <a:gridCol w="1645920"/>
                <a:gridCol w="1554480"/>
              </a:tblGrid>
              <a:tr h="418011">
                <a:tc>
                  <a:txBody>
                    <a:bodyPr/>
                    <a:lstStyle/>
                    <a:p>
                      <a:pPr algn="ctr">
                        <a:defRPr sz="1100" b="1">
                          <a:solidFill>
                            <a:srgbClr val="FFFFFF"/>
                          </a:solidFill>
                          <a:latin typeface="Times New Roman"/>
                        </a:defRPr>
                      </a:pPr>
                      <a:r>
                        <a:t>Nhóm mô hình</a:t>
                      </a:r>
                    </a:p>
                  </a:txBody>
                  <a:tcPr>
                    <a:solidFill>
                      <a:srgbClr val="1E3A8A"/>
                    </a:solidFill>
                  </a:tcPr>
                </a:tc>
                <a:tc>
                  <a:txBody>
                    <a:bodyPr/>
                    <a:lstStyle/>
                    <a:p>
                      <a:pPr algn="ctr">
                        <a:defRPr sz="1100" b="1">
                          <a:solidFill>
                            <a:srgbClr val="FFFFFF"/>
                          </a:solidFill>
                          <a:latin typeface="Times New Roman"/>
                        </a:defRPr>
                      </a:pPr>
                      <a:r>
                        <a:t>Thuật toán</a:t>
                      </a:r>
                    </a:p>
                  </a:txBody>
                  <a:tcPr>
                    <a:solidFill>
                      <a:srgbClr val="1E3A8A"/>
                    </a:solidFill>
                  </a:tcPr>
                </a:tc>
                <a:tc>
                  <a:txBody>
                    <a:bodyPr/>
                    <a:lstStyle/>
                    <a:p>
                      <a:pPr algn="ctr">
                        <a:defRPr sz="1100" b="1">
                          <a:solidFill>
                            <a:srgbClr val="FFFFFF"/>
                          </a:solidFill>
                          <a:latin typeface="Times New Roman"/>
                        </a:defRPr>
                      </a:pPr>
                      <a:r>
                        <a:t>Val Accuracy</a:t>
                      </a:r>
                    </a:p>
                  </a:txBody>
                  <a:tcPr>
                    <a:solidFill>
                      <a:srgbClr val="1E3A8A"/>
                    </a:solidFill>
                  </a:tcPr>
                </a:tc>
                <a:tc>
                  <a:txBody>
                    <a:bodyPr/>
                    <a:lstStyle/>
                    <a:p>
                      <a:pPr algn="ctr">
                        <a:defRPr sz="1100" b="1">
                          <a:solidFill>
                            <a:srgbClr val="FFFFFF"/>
                          </a:solidFill>
                          <a:latin typeface="Times New Roman"/>
                        </a:defRPr>
                      </a:pPr>
                      <a:r>
                        <a:t>Test Accuracy</a:t>
                      </a:r>
                    </a:p>
                  </a:txBody>
                  <a:tcPr>
                    <a:solidFill>
                      <a:srgbClr val="1E3A8A"/>
                    </a:solidFill>
                  </a:tcPr>
                </a:tc>
                <a:tc>
                  <a:txBody>
                    <a:bodyPr/>
                    <a:lstStyle/>
                    <a:p>
                      <a:pPr algn="ctr">
                        <a:defRPr sz="1100" b="1">
                          <a:solidFill>
                            <a:srgbClr val="FFFFFF"/>
                          </a:solidFill>
                          <a:latin typeface="Times New Roman"/>
                        </a:defRPr>
                      </a:pPr>
                      <a:r>
                        <a:t>Test Macro F1</a:t>
                      </a:r>
                    </a:p>
                  </a:txBody>
                  <a:tcPr>
                    <a:solidFill>
                      <a:srgbClr val="1E3A8A"/>
                    </a:solidFill>
                  </a:tcPr>
                </a:tc>
                <a:tc>
                  <a:txBody>
                    <a:bodyPr/>
                    <a:lstStyle/>
                    <a:p>
                      <a:pPr algn="ctr">
                        <a:defRPr sz="1100" b="1">
                          <a:solidFill>
                            <a:srgbClr val="FFFFFF"/>
                          </a:solidFill>
                          <a:latin typeface="Times New Roman"/>
                        </a:defRPr>
                      </a:pPr>
                      <a:r>
                        <a:t>Weighted F1</a:t>
                      </a:r>
                    </a:p>
                  </a:txBody>
                  <a:tcPr>
                    <a:solidFill>
                      <a:srgbClr val="1E3A8A"/>
                    </a:solidFill>
                  </a:tcPr>
                </a:tc>
              </a:tr>
              <a:tr h="418011">
                <a:tc>
                  <a:txBody>
                    <a:bodyPr/>
                    <a:lstStyle/>
                    <a:p>
                      <a:pPr algn="l">
                        <a:defRPr sz="1050" b="0">
                          <a:solidFill>
                            <a:srgbClr val="0F172A"/>
                          </a:solidFill>
                          <a:latin typeface="Times New Roman"/>
                        </a:defRPr>
                      </a:pPr>
                      <a:r>
                        <a:t>Baseline (Chỉ Text)</a:t>
                      </a:r>
                    </a:p>
                  </a:txBody>
                  <a:tcPr>
                    <a:solidFill>
                      <a:srgbClr val="FFFFFF"/>
                    </a:solidFill>
                  </a:tcPr>
                </a:tc>
                <a:tc>
                  <a:txBody>
                    <a:bodyPr/>
                    <a:lstStyle/>
                    <a:p>
                      <a:pPr algn="l">
                        <a:defRPr sz="1050" b="0">
                          <a:solidFill>
                            <a:srgbClr val="0F172A"/>
                          </a:solidFill>
                          <a:latin typeface="Times New Roman"/>
                        </a:defRPr>
                      </a:pPr>
                      <a:r>
                        <a:t>Logistic Regression</a:t>
                      </a:r>
                    </a:p>
                  </a:txBody>
                  <a:tcPr>
                    <a:solidFill>
                      <a:srgbClr val="FFFFFF"/>
                    </a:solidFill>
                  </a:tcPr>
                </a:tc>
                <a:tc>
                  <a:txBody>
                    <a:bodyPr/>
                    <a:lstStyle/>
                    <a:p>
                      <a:pPr algn="ctr">
                        <a:defRPr sz="1050" b="0">
                          <a:solidFill>
                            <a:srgbClr val="0F172A"/>
                          </a:solidFill>
                          <a:latin typeface="Times New Roman"/>
                        </a:defRPr>
                      </a:pPr>
                      <a:r>
                        <a:t>58.14%</a:t>
                      </a:r>
                    </a:p>
                  </a:txBody>
                  <a:tcPr>
                    <a:solidFill>
                      <a:srgbClr val="FFFFFF"/>
                    </a:solidFill>
                  </a:tcPr>
                </a:tc>
                <a:tc>
                  <a:txBody>
                    <a:bodyPr/>
                    <a:lstStyle/>
                    <a:p>
                      <a:pPr algn="ctr">
                        <a:defRPr sz="1050" b="0">
                          <a:solidFill>
                            <a:srgbClr val="0F172A"/>
                          </a:solidFill>
                          <a:latin typeface="Times New Roman"/>
                        </a:defRPr>
                      </a:pPr>
                      <a:r>
                        <a:t>58.23%</a:t>
                      </a:r>
                    </a:p>
                  </a:txBody>
                  <a:tcPr>
                    <a:solidFill>
                      <a:srgbClr val="FFFFFF"/>
                    </a:solidFill>
                  </a:tcPr>
                </a:tc>
                <a:tc>
                  <a:txBody>
                    <a:bodyPr/>
                    <a:lstStyle/>
                    <a:p>
                      <a:pPr algn="ctr">
                        <a:defRPr sz="1050" b="0">
                          <a:solidFill>
                            <a:srgbClr val="0F172A"/>
                          </a:solidFill>
                          <a:latin typeface="Times New Roman"/>
                        </a:defRPr>
                      </a:pPr>
                      <a:r>
                        <a:t>0.5084</a:t>
                      </a:r>
                    </a:p>
                  </a:txBody>
                  <a:tcPr>
                    <a:solidFill>
                      <a:srgbClr val="FFFFFF"/>
                    </a:solidFill>
                  </a:tcPr>
                </a:tc>
                <a:tc>
                  <a:txBody>
                    <a:bodyPr/>
                    <a:lstStyle/>
                    <a:p>
                      <a:pPr algn="ctr">
                        <a:defRPr sz="1050" b="0">
                          <a:solidFill>
                            <a:srgbClr val="0F172A"/>
                          </a:solidFill>
                          <a:latin typeface="Times New Roman"/>
                        </a:defRPr>
                      </a:pPr>
                      <a:r>
                        <a:t>-</a:t>
                      </a:r>
                    </a:p>
                  </a:txBody>
                  <a:tcPr>
                    <a:solidFill>
                      <a:srgbClr val="FFFFFF"/>
                    </a:solidFill>
                  </a:tcPr>
                </a:tc>
              </a:tr>
              <a:tr h="418011">
                <a:tc>
                  <a:txBody>
                    <a:bodyPr/>
                    <a:lstStyle/>
                    <a:p>
                      <a:pPr algn="l">
                        <a:defRPr sz="1050" b="0">
                          <a:solidFill>
                            <a:srgbClr val="0F172A"/>
                          </a:solidFill>
                          <a:latin typeface="Times New Roman"/>
                        </a:defRPr>
                      </a:pPr>
                      <a:r>
                        <a:t>Baseline (Chỉ Text)</a:t>
                      </a:r>
                    </a:p>
                  </a:txBody>
                  <a:tcPr>
                    <a:solidFill>
                      <a:srgbClr val="F1F5F9"/>
                    </a:solidFill>
                  </a:tcPr>
                </a:tc>
                <a:tc>
                  <a:txBody>
                    <a:bodyPr/>
                    <a:lstStyle/>
                    <a:p>
                      <a:pPr algn="l">
                        <a:defRPr sz="1050" b="0">
                          <a:solidFill>
                            <a:srgbClr val="0F172A"/>
                          </a:solidFill>
                          <a:latin typeface="Times New Roman"/>
                        </a:defRPr>
                      </a:pPr>
                      <a:r>
                        <a:t>Linear SVM</a:t>
                      </a:r>
                    </a:p>
                  </a:txBody>
                  <a:tcPr>
                    <a:solidFill>
                      <a:srgbClr val="F1F5F9"/>
                    </a:solidFill>
                  </a:tcPr>
                </a:tc>
                <a:tc>
                  <a:txBody>
                    <a:bodyPr/>
                    <a:lstStyle/>
                    <a:p>
                      <a:pPr algn="ctr">
                        <a:defRPr sz="1050" b="0">
                          <a:solidFill>
                            <a:srgbClr val="0F172A"/>
                          </a:solidFill>
                          <a:latin typeface="Times New Roman"/>
                        </a:defRPr>
                      </a:pPr>
                      <a:r>
                        <a:t>57.73%</a:t>
                      </a:r>
                    </a:p>
                  </a:txBody>
                  <a:tcPr>
                    <a:solidFill>
                      <a:srgbClr val="F1F5F9"/>
                    </a:solidFill>
                  </a:tcPr>
                </a:tc>
                <a:tc>
                  <a:txBody>
                    <a:bodyPr/>
                    <a:lstStyle/>
                    <a:p>
                      <a:pPr algn="ctr">
                        <a:defRPr sz="1050" b="0">
                          <a:solidFill>
                            <a:srgbClr val="0F172A"/>
                          </a:solidFill>
                          <a:latin typeface="Times New Roman"/>
                        </a:defRPr>
                      </a:pPr>
                      <a:r>
                        <a:t>57.88%</a:t>
                      </a:r>
                    </a:p>
                  </a:txBody>
                  <a:tcPr>
                    <a:solidFill>
                      <a:srgbClr val="F1F5F9"/>
                    </a:solidFill>
                  </a:tcPr>
                </a:tc>
                <a:tc>
                  <a:txBody>
                    <a:bodyPr/>
                    <a:lstStyle/>
                    <a:p>
                      <a:pPr algn="ctr">
                        <a:defRPr sz="1050" b="0">
                          <a:solidFill>
                            <a:srgbClr val="0F172A"/>
                          </a:solidFill>
                          <a:latin typeface="Times New Roman"/>
                        </a:defRPr>
                      </a:pPr>
                      <a:r>
                        <a:t>0.4754</a:t>
                      </a:r>
                    </a:p>
                  </a:txBody>
                  <a:tcPr>
                    <a:solidFill>
                      <a:srgbClr val="F1F5F9"/>
                    </a:solidFill>
                  </a:tcPr>
                </a:tc>
                <a:tc>
                  <a:txBody>
                    <a:bodyPr/>
                    <a:lstStyle/>
                    <a:p>
                      <a:pPr algn="ctr">
                        <a:defRPr sz="1050" b="0">
                          <a:solidFill>
                            <a:srgbClr val="0F172A"/>
                          </a:solidFill>
                          <a:latin typeface="Times New Roman"/>
                        </a:defRPr>
                      </a:pPr>
                      <a:r>
                        <a:t>-</a:t>
                      </a:r>
                    </a:p>
                  </a:txBody>
                  <a:tcPr>
                    <a:solidFill>
                      <a:srgbClr val="F1F5F9"/>
                    </a:solidFill>
                  </a:tcPr>
                </a:tc>
              </a:tr>
              <a:tr h="418011">
                <a:tc>
                  <a:txBody>
                    <a:bodyPr/>
                    <a:lstStyle/>
                    <a:p>
                      <a:pPr algn="l">
                        <a:defRPr sz="1050" b="0">
                          <a:solidFill>
                            <a:srgbClr val="0F172A"/>
                          </a:solidFill>
                          <a:latin typeface="Times New Roman"/>
                        </a:defRPr>
                      </a:pPr>
                      <a:r>
                        <a:t>Đa đặc trưng (25.013 chiều)</a:t>
                      </a:r>
                    </a:p>
                  </a:txBody>
                  <a:tcPr>
                    <a:solidFill>
                      <a:srgbClr val="FFFFFF"/>
                    </a:solidFill>
                  </a:tcPr>
                </a:tc>
                <a:tc>
                  <a:txBody>
                    <a:bodyPr/>
                    <a:lstStyle/>
                    <a:p>
                      <a:pPr algn="l">
                        <a:defRPr sz="1050" b="0">
                          <a:solidFill>
                            <a:srgbClr val="0F172A"/>
                          </a:solidFill>
                          <a:latin typeface="Times New Roman"/>
                        </a:defRPr>
                      </a:pPr>
                      <a:r>
                        <a:t>Logistic Regression</a:t>
                      </a:r>
                    </a:p>
                  </a:txBody>
                  <a:tcPr>
                    <a:solidFill>
                      <a:srgbClr val="FFFFFF"/>
                    </a:solidFill>
                  </a:tcPr>
                </a:tc>
                <a:tc>
                  <a:txBody>
                    <a:bodyPr/>
                    <a:lstStyle/>
                    <a:p>
                      <a:pPr algn="ctr">
                        <a:defRPr sz="1050" b="0">
                          <a:solidFill>
                            <a:srgbClr val="0F172A"/>
                          </a:solidFill>
                          <a:latin typeface="Times New Roman"/>
                        </a:defRPr>
                      </a:pPr>
                      <a:r>
                        <a:t>66.52%</a:t>
                      </a:r>
                    </a:p>
                  </a:txBody>
                  <a:tcPr>
                    <a:solidFill>
                      <a:srgbClr val="FFFFFF"/>
                    </a:solidFill>
                  </a:tcPr>
                </a:tc>
                <a:tc>
                  <a:txBody>
                    <a:bodyPr/>
                    <a:lstStyle/>
                    <a:p>
                      <a:pPr algn="ctr">
                        <a:defRPr sz="1050" b="0">
                          <a:solidFill>
                            <a:srgbClr val="0F172A"/>
                          </a:solidFill>
                          <a:latin typeface="Times New Roman"/>
                        </a:defRPr>
                      </a:pPr>
                      <a:r>
                        <a:t>65.98%</a:t>
                      </a:r>
                    </a:p>
                  </a:txBody>
                  <a:tcPr>
                    <a:solidFill>
                      <a:srgbClr val="FFFFFF"/>
                    </a:solidFill>
                  </a:tcPr>
                </a:tc>
                <a:tc>
                  <a:txBody>
                    <a:bodyPr/>
                    <a:lstStyle/>
                    <a:p>
                      <a:pPr algn="ctr">
                        <a:defRPr sz="1050" b="0">
                          <a:solidFill>
                            <a:srgbClr val="0F172A"/>
                          </a:solidFill>
                          <a:latin typeface="Times New Roman"/>
                        </a:defRPr>
                      </a:pPr>
                      <a:r>
                        <a:t>-</a:t>
                      </a:r>
                    </a:p>
                  </a:txBody>
                  <a:tcPr>
                    <a:solidFill>
                      <a:srgbClr val="FFFFFF"/>
                    </a:solidFill>
                  </a:tcPr>
                </a:tc>
                <a:tc>
                  <a:txBody>
                    <a:bodyPr/>
                    <a:lstStyle/>
                    <a:p>
                      <a:pPr algn="ctr">
                        <a:defRPr sz="1050" b="0">
                          <a:solidFill>
                            <a:srgbClr val="0F172A"/>
                          </a:solidFill>
                          <a:latin typeface="Times New Roman"/>
                        </a:defRPr>
                      </a:pPr>
                      <a:r>
                        <a:t>-</a:t>
                      </a:r>
                    </a:p>
                  </a:txBody>
                  <a:tcPr>
                    <a:solidFill>
                      <a:srgbClr val="FFFFFF"/>
                    </a:solidFill>
                  </a:tcPr>
                </a:tc>
              </a:tr>
              <a:tr h="418011">
                <a:tc>
                  <a:txBody>
                    <a:bodyPr/>
                    <a:lstStyle/>
                    <a:p>
                      <a:pPr algn="l">
                        <a:defRPr sz="1050" b="0">
                          <a:solidFill>
                            <a:srgbClr val="0F172A"/>
                          </a:solidFill>
                          <a:latin typeface="Times New Roman"/>
                        </a:defRPr>
                      </a:pPr>
                      <a:r>
                        <a:t>Đa đặc trưng (25.013 chiều)</a:t>
                      </a:r>
                    </a:p>
                  </a:txBody>
                  <a:tcPr>
                    <a:solidFill>
                      <a:srgbClr val="F1F5F9"/>
                    </a:solidFill>
                  </a:tcPr>
                </a:tc>
                <a:tc>
                  <a:txBody>
                    <a:bodyPr/>
                    <a:lstStyle/>
                    <a:p>
                      <a:pPr algn="l">
                        <a:defRPr sz="1050" b="0">
                          <a:solidFill>
                            <a:srgbClr val="0F172A"/>
                          </a:solidFill>
                          <a:latin typeface="Times New Roman"/>
                        </a:defRPr>
                      </a:pPr>
                      <a:r>
                        <a:t>Random Forest (150 cây)</a:t>
                      </a:r>
                    </a:p>
                  </a:txBody>
                  <a:tcPr>
                    <a:solidFill>
                      <a:srgbClr val="F1F5F9"/>
                    </a:solidFill>
                  </a:tcPr>
                </a:tc>
                <a:tc>
                  <a:txBody>
                    <a:bodyPr/>
                    <a:lstStyle/>
                    <a:p>
                      <a:pPr algn="ctr">
                        <a:defRPr sz="1050" b="0">
                          <a:solidFill>
                            <a:srgbClr val="0F172A"/>
                          </a:solidFill>
                          <a:latin typeface="Times New Roman"/>
                        </a:defRPr>
                      </a:pPr>
                      <a:r>
                        <a:t>60.17%</a:t>
                      </a:r>
                    </a:p>
                  </a:txBody>
                  <a:tcPr>
                    <a:solidFill>
                      <a:srgbClr val="F1F5F9"/>
                    </a:solidFill>
                  </a:tcPr>
                </a:tc>
                <a:tc>
                  <a:txBody>
                    <a:bodyPr/>
                    <a:lstStyle/>
                    <a:p>
                      <a:pPr algn="ctr">
                        <a:defRPr sz="1050" b="0">
                          <a:solidFill>
                            <a:srgbClr val="0F172A"/>
                          </a:solidFill>
                          <a:latin typeface="Times New Roman"/>
                        </a:defRPr>
                      </a:pPr>
                      <a:r>
                        <a:t>62.76%</a:t>
                      </a:r>
                    </a:p>
                  </a:txBody>
                  <a:tcPr>
                    <a:solidFill>
                      <a:srgbClr val="F1F5F9"/>
                    </a:solidFill>
                  </a:tcPr>
                </a:tc>
                <a:tc>
                  <a:txBody>
                    <a:bodyPr/>
                    <a:lstStyle/>
                    <a:p>
                      <a:pPr algn="ctr">
                        <a:defRPr sz="1050" b="0">
                          <a:solidFill>
                            <a:srgbClr val="0F172A"/>
                          </a:solidFill>
                          <a:latin typeface="Times New Roman"/>
                        </a:defRPr>
                      </a:pPr>
                      <a:r>
                        <a:t>-</a:t>
                      </a:r>
                    </a:p>
                  </a:txBody>
                  <a:tcPr>
                    <a:solidFill>
                      <a:srgbClr val="F1F5F9"/>
                    </a:solidFill>
                  </a:tcPr>
                </a:tc>
                <a:tc>
                  <a:txBody>
                    <a:bodyPr/>
                    <a:lstStyle/>
                    <a:p>
                      <a:pPr algn="ctr">
                        <a:defRPr sz="1050" b="0">
                          <a:solidFill>
                            <a:srgbClr val="0F172A"/>
                          </a:solidFill>
                          <a:latin typeface="Times New Roman"/>
                        </a:defRPr>
                      </a:pPr>
                      <a:r>
                        <a:t>-</a:t>
                      </a:r>
                    </a:p>
                  </a:txBody>
                  <a:tcPr>
                    <a:solidFill>
                      <a:srgbClr val="F1F5F9"/>
                    </a:solidFill>
                  </a:tcPr>
                </a:tc>
              </a:tr>
              <a:tr h="418011">
                <a:tc>
                  <a:txBody>
                    <a:bodyPr/>
                    <a:lstStyle/>
                    <a:p>
                      <a:pPr algn="l">
                        <a:defRPr sz="1050" b="0">
                          <a:solidFill>
                            <a:srgbClr val="0F172A"/>
                          </a:solidFill>
                          <a:latin typeface="Times New Roman"/>
                        </a:defRPr>
                      </a:pPr>
                      <a:r>
                        <a:t>Đa đặc trưng (25.013 chiều)</a:t>
                      </a:r>
                    </a:p>
                  </a:txBody>
                  <a:tcPr>
                    <a:solidFill>
                      <a:srgbClr val="FFFFFF"/>
                    </a:solidFill>
                  </a:tcPr>
                </a:tc>
                <a:tc>
                  <a:txBody>
                    <a:bodyPr/>
                    <a:lstStyle/>
                    <a:p>
                      <a:pPr algn="l">
                        <a:defRPr sz="1050" b="0">
                          <a:solidFill>
                            <a:srgbClr val="0F172A"/>
                          </a:solidFill>
                          <a:latin typeface="Times New Roman"/>
                        </a:defRPr>
                      </a:pPr>
                      <a:r>
                        <a:t>XGBoost (200 cây)</a:t>
                      </a:r>
                    </a:p>
                  </a:txBody>
                  <a:tcPr>
                    <a:solidFill>
                      <a:srgbClr val="FFFFFF"/>
                    </a:solidFill>
                  </a:tcPr>
                </a:tc>
                <a:tc>
                  <a:txBody>
                    <a:bodyPr/>
                    <a:lstStyle/>
                    <a:p>
                      <a:pPr algn="ctr">
                        <a:defRPr sz="1050" b="0">
                          <a:solidFill>
                            <a:srgbClr val="0F172A"/>
                          </a:solidFill>
                          <a:latin typeface="Times New Roman"/>
                        </a:defRPr>
                      </a:pPr>
                      <a:r>
                        <a:t>73.05%</a:t>
                      </a:r>
                    </a:p>
                  </a:txBody>
                  <a:tcPr>
                    <a:solidFill>
                      <a:srgbClr val="FFFFFF"/>
                    </a:solidFill>
                  </a:tcPr>
                </a:tc>
                <a:tc>
                  <a:txBody>
                    <a:bodyPr/>
                    <a:lstStyle/>
                    <a:p>
                      <a:pPr algn="ctr">
                        <a:defRPr sz="1050" b="0">
                          <a:solidFill>
                            <a:srgbClr val="0F172A"/>
                          </a:solidFill>
                          <a:latin typeface="Times New Roman"/>
                        </a:defRPr>
                      </a:pPr>
                      <a:r>
                        <a:t>73.34%</a:t>
                      </a:r>
                    </a:p>
                  </a:txBody>
                  <a:tcPr>
                    <a:solidFill>
                      <a:srgbClr val="FFFFFF"/>
                    </a:solidFill>
                  </a:tcPr>
                </a:tc>
                <a:tc>
                  <a:txBody>
                    <a:bodyPr/>
                    <a:lstStyle/>
                    <a:p>
                      <a:pPr algn="ctr">
                        <a:defRPr sz="1050" b="0">
                          <a:solidFill>
                            <a:srgbClr val="0F172A"/>
                          </a:solidFill>
                          <a:latin typeface="Times New Roman"/>
                        </a:defRPr>
                      </a:pPr>
                      <a:r>
                        <a:t>-</a:t>
                      </a:r>
                    </a:p>
                  </a:txBody>
                  <a:tcPr>
                    <a:solidFill>
                      <a:srgbClr val="FFFFFF"/>
                    </a:solidFill>
                  </a:tcPr>
                </a:tc>
                <a:tc>
                  <a:txBody>
                    <a:bodyPr/>
                    <a:lstStyle/>
                    <a:p>
                      <a:pPr algn="ctr">
                        <a:defRPr sz="1050" b="0">
                          <a:solidFill>
                            <a:srgbClr val="0F172A"/>
                          </a:solidFill>
                          <a:latin typeface="Times New Roman"/>
                        </a:defRPr>
                      </a:pPr>
                      <a:r>
                        <a:t>-</a:t>
                      </a:r>
                    </a:p>
                  </a:txBody>
                  <a:tcPr>
                    <a:solidFill>
                      <a:srgbClr val="FFFFFF"/>
                    </a:solidFill>
                  </a:tcPr>
                </a:tc>
              </a:tr>
              <a:tr h="418014">
                <a:tc>
                  <a:txBody>
                    <a:bodyPr/>
                    <a:lstStyle/>
                    <a:p>
                      <a:pPr algn="l">
                        <a:defRPr sz="1050" b="1">
                          <a:solidFill>
                            <a:srgbClr val="0F172A"/>
                          </a:solidFill>
                          <a:latin typeface="Times New Roman"/>
                        </a:defRPr>
                      </a:pPr>
                      <a:r>
                        <a:t>Học kết hợp (Ensemble)</a:t>
                      </a:r>
                    </a:p>
                  </a:txBody>
                  <a:tcPr>
                    <a:solidFill>
                      <a:srgbClr val="DCFCE7"/>
                    </a:solidFill>
                  </a:tcPr>
                </a:tc>
                <a:tc>
                  <a:txBody>
                    <a:bodyPr/>
                    <a:lstStyle/>
                    <a:p>
                      <a:pPr algn="l">
                        <a:defRPr sz="1050" b="1">
                          <a:solidFill>
                            <a:srgbClr val="0F172A"/>
                          </a:solidFill>
                          <a:latin typeface="Times New Roman"/>
                        </a:defRPr>
                      </a:pPr>
                      <a:r>
                        <a:t>Weighted Soft Voting</a:t>
                      </a:r>
                    </a:p>
                  </a:txBody>
                  <a:tcPr>
                    <a:solidFill>
                      <a:srgbClr val="DCFCE7"/>
                    </a:solidFill>
                  </a:tcPr>
                </a:tc>
                <a:tc>
                  <a:txBody>
                    <a:bodyPr/>
                    <a:lstStyle/>
                    <a:p>
                      <a:pPr algn="ctr">
                        <a:defRPr sz="1050" b="1">
                          <a:solidFill>
                            <a:srgbClr val="0F172A"/>
                          </a:solidFill>
                          <a:latin typeface="Times New Roman"/>
                        </a:defRPr>
                      </a:pPr>
                      <a:r>
                        <a:t>73.18%</a:t>
                      </a:r>
                    </a:p>
                  </a:txBody>
                  <a:tcPr>
                    <a:solidFill>
                      <a:srgbClr val="DCFCE7"/>
                    </a:solidFill>
                  </a:tcPr>
                </a:tc>
                <a:tc>
                  <a:txBody>
                    <a:bodyPr/>
                    <a:lstStyle/>
                    <a:p>
                      <a:pPr algn="ctr">
                        <a:defRPr sz="1050" b="1">
                          <a:solidFill>
                            <a:srgbClr val="0F172A"/>
                          </a:solidFill>
                          <a:latin typeface="Times New Roman"/>
                        </a:defRPr>
                      </a:pPr>
                      <a:r>
                        <a:t>73.61%</a:t>
                      </a:r>
                    </a:p>
                  </a:txBody>
                  <a:tcPr>
                    <a:solidFill>
                      <a:srgbClr val="DCFCE7"/>
                    </a:solidFill>
                  </a:tcPr>
                </a:tc>
                <a:tc>
                  <a:txBody>
                    <a:bodyPr/>
                    <a:lstStyle/>
                    <a:p>
                      <a:pPr algn="ctr">
                        <a:defRPr sz="1050" b="1">
                          <a:solidFill>
                            <a:srgbClr val="0F172A"/>
                          </a:solidFill>
                          <a:latin typeface="Times New Roman"/>
                        </a:defRPr>
                      </a:pPr>
                      <a:r>
                        <a:t>0.6299</a:t>
                      </a:r>
                    </a:p>
                  </a:txBody>
                  <a:tcPr>
                    <a:solidFill>
                      <a:srgbClr val="DCFCE7"/>
                    </a:solidFill>
                  </a:tcPr>
                </a:tc>
                <a:tc>
                  <a:txBody>
                    <a:bodyPr/>
                    <a:lstStyle/>
                    <a:p>
                      <a:pPr algn="ctr">
                        <a:defRPr sz="1050" b="1">
                          <a:solidFill>
                            <a:srgbClr val="0F172A"/>
                          </a:solidFill>
                          <a:latin typeface="Times New Roman"/>
                        </a:defRPr>
                      </a:pPr>
                      <a:r>
                        <a:t>0.7202</a:t>
                      </a:r>
                    </a:p>
                  </a:txBody>
                  <a:tcPr>
                    <a:solidFill>
                      <a:srgbClr val="DCFCE7"/>
                    </a:solidFill>
                  </a:tcPr>
                </a:tc>
              </a:tr>
            </a:tbl>
          </a:graphicData>
        </a:graphic>
      </p:graphicFrame>
      <p:sp>
        <p:nvSpPr>
          <p:cNvPr id="10" name="Rounded Rectangle 9"/>
          <p:cNvSpPr/>
          <p:nvPr/>
        </p:nvSpPr>
        <p:spPr>
          <a:xfrm>
            <a:off x="731520" y="4572000"/>
            <a:ext cx="10698480" cy="1554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KẾT LUẬN TỔNG HỢP HIỆU NĂNG</a:t>
            </a:r>
          </a:p>
          <a:p>
            <a:pPr>
              <a:spcAft>
                <a:spcPts val="600"/>
              </a:spcAft>
              <a:defRPr sz="1150">
                <a:solidFill>
                  <a:srgbClr val="0F172A"/>
                </a:solidFill>
                <a:latin typeface="Times New Roman"/>
              </a:defRPr>
            </a:pPr>
            <a:r>
              <a:t>• Mô hình Weighted Soft Voting Ensemble (75% XGBoost + 25% Logistic) thiết lập đỉnh cao toàn diện: 73.18% trên Validation và 73.61% trên Test.</a:t>
            </a:r>
          </a:p>
          <a:p>
            <a:pPr>
              <a:spcAft>
                <a:spcPts val="600"/>
              </a:spcAft>
              <a:defRPr sz="1150">
                <a:solidFill>
                  <a:srgbClr val="0F172A"/>
                </a:solidFill>
                <a:latin typeface="Times New Roman"/>
              </a:defRPr>
            </a:pPr>
            <a:r>
              <a:t>• So với mốc Majority Baseline (57.62%) và Text Baseline (58.23%), hệ thống đã tạo bước nhảy vọt +15.38 điểm phần trăm độ chính xác tuyệt đối.</a:t>
            </a:r>
          </a:p>
          <a:p>
            <a:pPr>
              <a:spcAft>
                <a:spcPts val="600"/>
              </a:spcAft>
              <a:defRPr sz="1150">
                <a:solidFill>
                  <a:srgbClr val="0F172A"/>
                </a:solidFill>
                <a:latin typeface="Times New Roman"/>
              </a:defRPr>
            </a:pPr>
            <a:r>
              <a:t>• Minh chứng việc phối hợp giữa phân tích hành vi người nói và xử lý ngôn ngữ tự nhiên là hướng đi đúng đắn nhất cho bài toán kiểm chứng tin giả chính trị.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2000" b="1">
                <a:solidFill>
                  <a:srgbClr val="2563EB"/>
                </a:solidFill>
                <a:latin typeface="Times New Roman"/>
              </a:defRPr>
            </a:pPr>
            <a:r>
              <a:t>CHƯƠNG 5</a:t>
            </a:r>
          </a:p>
          <a:p>
            <a:pPr>
              <a:spcBef>
                <a:spcPts val="1000"/>
              </a:spcBef>
              <a:defRPr sz="3200" b="1">
                <a:solidFill>
                  <a:srgbClr val="FFFFFF"/>
                </a:solidFill>
                <a:latin typeface="Times New Roman"/>
              </a:defRPr>
            </a:pPr>
            <a:r>
              <a:t>ỨNG DỤNG THỰC TIỄN &amp; KẾT LUẬN TOÀN DIỆN</a:t>
            </a:r>
            <a:br/>
            <a:r>
              <a:t>(DEPLOYMENT &amp; CONCLUSION)</a:t>
            </a:r>
          </a:p>
          <a:p>
            <a:pPr>
              <a:spcBef>
                <a:spcPts val="1600"/>
              </a:spcBef>
              <a:defRPr sz="1500">
                <a:solidFill>
                  <a:srgbClr val="94A3B8"/>
                </a:solidFill>
                <a:latin typeface="Times New Roman"/>
              </a:defRPr>
            </a:pPr>
            <a:r>
              <a:t>Xây dựng hàm dự đoán thực hành predict_statement(), Thử nghiệm kịch bản đời thực và Định hướng nghiên cứu tương lai</a:t>
            </a:r>
          </a:p>
        </p:txBody>
      </p:sp>
      <p:sp>
        <p:nvSpPr>
          <p:cNvPr id="4" name="Rectangle 3"/>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6" name="TextBox 5"/>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29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5.1. HÀM DỰ ĐOÁN THỰC HÀNH (PREDICT STATEMENT) &amp; DEMO</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30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HÀM XỬ LÝ ĐẦU CUỐI PREDICT_STATEMENT()</a:t>
            </a:r>
          </a:p>
          <a:p>
            <a:pPr>
              <a:spcAft>
                <a:spcPts val="600"/>
              </a:spcAft>
              <a:defRPr sz="1150">
                <a:solidFill>
                  <a:srgbClr val="0F172A"/>
                </a:solidFill>
                <a:latin typeface="Times New Roman"/>
              </a:defRPr>
            </a:pPr>
            <a:r>
              <a:t>• Quy trình tự động hóa khép kín:</a:t>
            </a:r>
          </a:p>
          <a:p>
            <a:pPr>
              <a:spcAft>
                <a:spcPts val="600"/>
              </a:spcAft>
              <a:defRPr sz="1150">
                <a:solidFill>
                  <a:srgbClr val="0F172A"/>
                </a:solidFill>
                <a:latin typeface="Times New Roman"/>
              </a:defRPr>
            </a:pPr>
            <a:r>
              <a:t>•   1. Tiếp nhận phát biểu thô + siêu dữ liệu người nói từ người dùng.</a:t>
            </a:r>
          </a:p>
          <a:p>
            <a:pPr>
              <a:spcAft>
                <a:spcPts val="600"/>
              </a:spcAft>
              <a:defRPr sz="1150">
                <a:solidFill>
                  <a:srgbClr val="0F172A"/>
                </a:solidFill>
                <a:latin typeface="Times New Roman"/>
              </a:defRPr>
            </a:pPr>
            <a:r>
              <a:t>•   2. Tính toán tức thời 5 chỉ số Stylometrics (Caps, !, ?, Numbers, Words).</a:t>
            </a:r>
          </a:p>
          <a:p>
            <a:pPr>
              <a:spcAft>
                <a:spcPts val="600"/>
              </a:spcAft>
              <a:defRPr sz="1150">
                <a:solidFill>
                  <a:srgbClr val="0F172A"/>
                </a:solidFill>
                <a:latin typeface="Times New Roman"/>
              </a:defRPr>
            </a:pPr>
            <a:r>
              <a:t>•   3. Truy xuất hồ sơ kiểm chứng để tính toán Trust Score và Net Truth.</a:t>
            </a:r>
          </a:p>
          <a:p>
            <a:pPr>
              <a:spcAft>
                <a:spcPts val="600"/>
              </a:spcAft>
              <a:defRPr sz="1150">
                <a:solidFill>
                  <a:srgbClr val="0F172A"/>
                </a:solidFill>
                <a:latin typeface="Times New Roman"/>
              </a:defRPr>
            </a:pPr>
            <a:r>
              <a:t>•   4. Nối chuỗi Combined Text và áp dụng TfidfVectorizer.transform().</a:t>
            </a:r>
          </a:p>
          <a:p>
            <a:pPr>
              <a:spcAft>
                <a:spcPts val="600"/>
              </a:spcAft>
              <a:defRPr sz="1150">
                <a:solidFill>
                  <a:srgbClr val="0F172A"/>
                </a:solidFill>
                <a:latin typeface="Times New Roman"/>
              </a:defRPr>
            </a:pPr>
            <a:r>
              <a:t>•   5. Chuẩn hóa 13 biến số qua StandardScaler.transform().</a:t>
            </a:r>
          </a:p>
          <a:p>
            <a:pPr>
              <a:spcAft>
                <a:spcPts val="600"/>
              </a:spcAft>
              <a:defRPr sz="1150">
                <a:solidFill>
                  <a:srgbClr val="0F172A"/>
                </a:solidFill>
                <a:latin typeface="Times New Roman"/>
              </a:defRPr>
            </a:pPr>
            <a:r>
              <a:t>•   6. Đưa qua Siêu mô hình Ensemble để xuất xác suất và nhãn cuối cùng.</a:t>
            </a:r>
          </a:p>
          <a:p>
            <a:pPr>
              <a:spcAft>
                <a:spcPts val="600"/>
              </a:spcAft>
              <a:defRPr sz="1150">
                <a:solidFill>
                  <a:srgbClr val="0F172A"/>
                </a:solidFill>
                <a:latin typeface="Times New Roman"/>
              </a:defRPr>
            </a:pPr>
            <a:r>
              <a:t>=&gt; Tốc độ suy luận: Dưới 15 mili-giây cho mỗi câu phát biểu mới.</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F172A"/>
                </a:solidFill>
                <a:latin typeface="Times New Roman"/>
              </a:defRPr>
            </a:pPr>
            <a:r>
              <a:t>KẾT QUẢ THỬ NGHIỆM 2 VÍ DỤ ĐỜI THỰC</a:t>
            </a:r>
          </a:p>
          <a:p>
            <a:pPr>
              <a:spcAft>
                <a:spcPts val="600"/>
              </a:spcAft>
              <a:defRPr sz="1150">
                <a:solidFill>
                  <a:srgbClr val="0F172A"/>
                </a:solidFill>
                <a:latin typeface="Times New Roman"/>
              </a:defRPr>
            </a:pPr>
            <a:r>
              <a:t>• VÍ DỤ 1 (Tin giả giật gân):</a:t>
            </a:r>
          </a:p>
          <a:p>
            <a:pPr>
              <a:spcAft>
                <a:spcPts val="600"/>
              </a:spcAft>
              <a:defRPr sz="1150">
                <a:solidFill>
                  <a:srgbClr val="0F172A"/>
                </a:solidFill>
                <a:latin typeface="Times New Roman"/>
              </a:defRPr>
            </a:pPr>
            <a:r>
              <a:t>•   • Phát biểu: 'The economy is completely collapsing and unemployment is at an all-time record high under the current administration!'</a:t>
            </a:r>
          </a:p>
          <a:p>
            <a:pPr>
              <a:spcAft>
                <a:spcPts val="600"/>
              </a:spcAft>
              <a:defRPr sz="1150">
                <a:solidFill>
                  <a:srgbClr val="0F172A"/>
                </a:solidFill>
                <a:latin typeface="Times New Roman"/>
              </a:defRPr>
            </a:pPr>
            <a:r>
              <a:t>•   • Người nói: donald-trump | Chủ đề: economy | Bối cảnh: speech</a:t>
            </a:r>
          </a:p>
          <a:p>
            <a:pPr>
              <a:spcAft>
                <a:spcPts val="600"/>
              </a:spcAft>
              <a:defRPr sz="1150">
                <a:solidFill>
                  <a:srgbClr val="0F172A"/>
                </a:solidFill>
                <a:latin typeface="Times New Roman"/>
              </a:defRPr>
            </a:pPr>
            <a:r>
              <a:t>•   • Kết quả dự đoán của Ensemble:</a:t>
            </a:r>
          </a:p>
          <a:p>
            <a:pPr>
              <a:spcAft>
                <a:spcPts val="600"/>
              </a:spcAft>
              <a:defRPr sz="1150">
                <a:solidFill>
                  <a:srgbClr val="0F172A"/>
                </a:solidFill>
                <a:latin typeface="Times New Roman"/>
              </a:defRPr>
            </a:pPr>
            <a:r>
              <a:t>•     P(FALSE) = 73.93% | P(MIXED) = 14.77% | P(TRUE) = 11.30%</a:t>
            </a:r>
          </a:p>
          <a:p>
            <a:pPr>
              <a:spcAft>
                <a:spcPts val="600"/>
              </a:spcAft>
              <a:defRPr sz="1150">
                <a:solidFill>
                  <a:srgbClr val="0F172A"/>
                </a:solidFill>
                <a:latin typeface="Times New Roman"/>
              </a:defRPr>
            </a:pPr>
            <a:r>
              <a:t>•   =&gt; KẾT LUẬN CHÍNH THỨC: NHÃN 0: FALSE (TIN GIẢ) ❌</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VÍ DỤ 2 (Tuyên bố kiểm chứng tin cậy):</a:t>
            </a:r>
          </a:p>
          <a:p>
            <a:pPr>
              <a:spcAft>
                <a:spcPts val="600"/>
              </a:spcAft>
              <a:defRPr sz="1150">
                <a:solidFill>
                  <a:srgbClr val="0F172A"/>
                </a:solidFill>
                <a:latin typeface="Times New Roman"/>
              </a:defRPr>
            </a:pPr>
            <a:r>
              <a:t>•   • Phát biểu: 'We created over 10 million jobs during the recovery period according to the Bureau of Labor Statistics.'</a:t>
            </a:r>
          </a:p>
          <a:p>
            <a:pPr>
              <a:spcAft>
                <a:spcPts val="600"/>
              </a:spcAft>
              <a:defRPr sz="1150">
                <a:solidFill>
                  <a:srgbClr val="0F172A"/>
                </a:solidFill>
                <a:latin typeface="Times New Roman"/>
              </a:defRPr>
            </a:pPr>
            <a:r>
              <a:t>•   • Người nói: barack-obama | Chủ đề: jobs | Bối cảnh: address</a:t>
            </a:r>
          </a:p>
          <a:p>
            <a:pPr>
              <a:spcAft>
                <a:spcPts val="600"/>
              </a:spcAft>
              <a:defRPr sz="1150">
                <a:solidFill>
                  <a:srgbClr val="0F172A"/>
                </a:solidFill>
                <a:latin typeface="Times New Roman"/>
              </a:defRPr>
            </a:pPr>
            <a:r>
              <a:t>•   • Kết quả dự đoán của Ensemble:</a:t>
            </a:r>
          </a:p>
          <a:p>
            <a:pPr>
              <a:spcAft>
                <a:spcPts val="600"/>
              </a:spcAft>
              <a:defRPr sz="1150">
                <a:solidFill>
                  <a:srgbClr val="0F172A"/>
                </a:solidFill>
                <a:latin typeface="Times New Roman"/>
              </a:defRPr>
            </a:pPr>
            <a:r>
              <a:t>•     P(FALSE) = 12.15% | P(MIXED) = 18.32% | P(TRUE) = 69.53%</a:t>
            </a:r>
          </a:p>
          <a:p>
            <a:pPr>
              <a:spcAft>
                <a:spcPts val="600"/>
              </a:spcAft>
              <a:defRPr sz="1150">
                <a:solidFill>
                  <a:srgbClr val="0F172A"/>
                </a:solidFill>
                <a:latin typeface="Times New Roman"/>
              </a:defRPr>
            </a:pPr>
            <a:r>
              <a:t>•   =&gt; KẾT LUẬN CHÍNH THỨC: NHÃN 2: TRUE (SỰ THẬT)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Times New Roman"/>
              </a:defRPr>
            </a:pPr>
            <a:r>
              <a:t>BÁO CÁO MÔN KHAI PHÁ DỮ LIỆU</a:t>
            </a:r>
          </a:p>
        </p:txBody>
      </p:sp>
      <p:sp>
        <p:nvSpPr>
          <p:cNvPr id="3" name="TextBox 2"/>
          <p:cNvSpPr txBox="1"/>
          <p:nvPr/>
        </p:nvSpPr>
        <p:spPr>
          <a:xfrm>
            <a:off x="731520" y="658368"/>
            <a:ext cx="9326880" cy="548640"/>
          </a:xfrm>
          <a:prstGeom prst="rect">
            <a:avLst/>
          </a:prstGeom>
          <a:noFill/>
        </p:spPr>
        <p:txBody>
          <a:bodyPr wrap="none">
            <a:spAutoFit/>
          </a:bodyPr>
          <a:lstStyle/>
          <a:p>
            <a:pPr>
              <a:defRPr sz="2100" b="1">
                <a:solidFill>
                  <a:srgbClr val="0F172A"/>
                </a:solidFill>
                <a:latin typeface="Times New Roman"/>
              </a:defRPr>
            </a:pPr>
            <a:r>
              <a:t>5.2. KẾT LUẬN TOÀN DIỆN ĐỒ ÁN &amp; HƯỚNG PHÁT TRIỂN</a:t>
            </a:r>
          </a:p>
        </p:txBody>
      </p:sp>
      <p:sp>
        <p:nvSpPr>
          <p:cNvPr id="4" name="Rectangle 3"/>
          <p:cNvSpPr/>
          <p:nvPr/>
        </p:nvSpPr>
        <p:spPr>
          <a:xfrm>
            <a:off x="731520" y="1207008"/>
            <a:ext cx="16459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lu_shield_clean.png"/>
          <p:cNvPicPr>
            <a:picLocks noChangeAspect="1"/>
          </p:cNvPicPr>
          <p:nvPr/>
        </p:nvPicPr>
        <p:blipFill>
          <a:blip r:embed="rId2"/>
          <a:stretch>
            <a:fillRect/>
          </a:stretch>
        </p:blipFill>
        <p:spPr>
          <a:xfrm>
            <a:off x="10972800" y="320040"/>
            <a:ext cx="594360" cy="765616"/>
          </a:xfrm>
          <a:prstGeom prst="rect">
            <a:avLst/>
          </a:prstGeom>
        </p:spPr>
      </p:pic>
      <p:sp>
        <p:nvSpPr>
          <p:cNvPr id="6" name="Rectangle 5"/>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8" name="TextBox 7"/>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31 / 32</a:t>
            </a:r>
          </a:p>
        </p:txBody>
      </p:sp>
      <p:sp>
        <p:nvSpPr>
          <p:cNvPr id="9" name="Rounded Rectangle 8"/>
          <p:cNvSpPr/>
          <p:nvPr/>
        </p:nvSpPr>
        <p:spPr>
          <a:xfrm>
            <a:off x="731520" y="1463040"/>
            <a:ext cx="512064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6A34A"/>
                </a:solidFill>
                <a:latin typeface="Times New Roman"/>
              </a:defRPr>
            </a:pPr>
            <a:r>
              <a:t>4 KẾT LUẬN CỐT LÕI CỦA ĐỀ TÀI</a:t>
            </a:r>
          </a:p>
          <a:p>
            <a:pPr>
              <a:spcAft>
                <a:spcPts val="600"/>
              </a:spcAft>
              <a:defRPr sz="1150">
                <a:solidFill>
                  <a:srgbClr val="0F172A"/>
                </a:solidFill>
                <a:latin typeface="Times New Roman"/>
              </a:defRPr>
            </a:pPr>
            <a:r>
              <a:t>• 1. Kiểm soát rò rỉ dữ liệu là bắt buộc: Loại bỏ cột 'justification' ngăn ngừa hoàn toàn độ chính xác ảo 98%, bảo vệ tính trung thực và khoa học của đồ án.</a:t>
            </a:r>
          </a:p>
          <a:p>
            <a:pPr>
              <a:spcAft>
                <a:spcPts val="600"/>
              </a:spcAft>
              <a:defRPr sz="1150">
                <a:solidFill>
                  <a:srgbClr val="0F172A"/>
                </a:solidFill>
                <a:latin typeface="Times New Roman"/>
              </a:defRPr>
            </a:pPr>
            <a:r>
              <a:t>• 2. Văn bản đơn thuần là bất khả thi: Text-only chỉ đạt 58.23% (xấp xỉ mốc đoán ngẫu nhiên 57.62%), khẳng định tin giả chính trị không thể phân biệt chỉ qua câu từ.</a:t>
            </a:r>
          </a:p>
          <a:p>
            <a:pPr>
              <a:spcAft>
                <a:spcPts val="600"/>
              </a:spcAft>
              <a:defRPr sz="1150">
                <a:solidFill>
                  <a:srgbClr val="0F172A"/>
                </a:solidFill>
                <a:latin typeface="Times New Roman"/>
              </a:defRPr>
            </a:pPr>
            <a:r>
              <a:t>• 3. Siêu dữ liệu người nói là chìa khóa: Hệ thống Trust Score và Net Truth tạo bước nhảy vọt +15.38 điểm phần trăm, đưa độ chính xác lên 73.61%.</a:t>
            </a:r>
          </a:p>
          <a:p>
            <a:pPr>
              <a:spcAft>
                <a:spcPts val="600"/>
              </a:spcAft>
              <a:defRPr sz="1150">
                <a:solidFill>
                  <a:srgbClr val="0F172A"/>
                </a:solidFill>
                <a:latin typeface="Times New Roman"/>
              </a:defRPr>
            </a:pPr>
            <a:r>
              <a:t>• 4. Siêu mô hình Weighted Soft Voting Ensemble: Kết hợp tối ưu 75% XGBoost và 25% Logistic, đạt hiệu năng vượt bậc và ổn định.</a:t>
            </a:r>
          </a:p>
        </p:txBody>
      </p:sp>
      <p:sp>
        <p:nvSpPr>
          <p:cNvPr id="10" name="Rounded Rectangle 9"/>
          <p:cNvSpPr/>
          <p:nvPr/>
        </p:nvSpPr>
        <p:spPr>
          <a:xfrm>
            <a:off x="6217920" y="1463040"/>
            <a:ext cx="5212080" cy="4663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2563EB"/>
                </a:solidFill>
                <a:latin typeface="Times New Roman"/>
              </a:defRPr>
            </a:pPr>
            <a:r>
              <a:t>HẠN CHẾ &amp; HƯỚNG PHÁT TRIỂN TƯƠNG LAI</a:t>
            </a:r>
          </a:p>
          <a:p>
            <a:pPr>
              <a:spcAft>
                <a:spcPts val="600"/>
              </a:spcAft>
              <a:defRPr sz="1150">
                <a:solidFill>
                  <a:srgbClr val="0F172A"/>
                </a:solidFill>
                <a:latin typeface="Times New Roman"/>
              </a:defRPr>
            </a:pPr>
            <a:r>
              <a:t>• Hạn chế còn tồn tại:</a:t>
            </a:r>
          </a:p>
          <a:p>
            <a:pPr>
              <a:spcAft>
                <a:spcPts val="600"/>
              </a:spcAft>
              <a:defRPr sz="1150">
                <a:solidFill>
                  <a:srgbClr val="0F172A"/>
                </a:solidFill>
                <a:latin typeface="Times New Roman"/>
              </a:defRPr>
            </a:pPr>
            <a:r>
              <a:t>•   • Lớp MIXED (lập lờ / nửa đúng) chỉ đạt Recall 27.76% do ranh giới bản chất cực kỳ mong manh.</a:t>
            </a:r>
          </a:p>
          <a:p>
            <a:pPr>
              <a:spcAft>
                <a:spcPts val="600"/>
              </a:spcAft>
              <a:defRPr sz="1150">
                <a:solidFill>
                  <a:srgbClr val="0F172A"/>
                </a:solidFill>
                <a:latin typeface="Times New Roman"/>
              </a:defRPr>
            </a:pPr>
            <a:r>
              <a:t>•   • Mô hình phụ thuộc mạnh vào lịch sử người nói, gặp thách thức khi kiểm chứng chính trị gia hoàn toàn mới (Cold-Start Problem).</a:t>
            </a:r>
          </a:p>
          <a:p>
            <a:pPr>
              <a:spcAft>
                <a:spcPts val="600"/>
              </a:spcAft>
              <a:defRPr sz="1150">
                <a:solidFill>
                  <a:srgbClr val="0F172A"/>
                </a:solidFill>
                <a:latin typeface="Times New Roman"/>
              </a:defRPr>
            </a:pPr>
            <a:r>
              <a:t>• </a:t>
            </a:r>
          </a:p>
          <a:p>
            <a:pPr>
              <a:spcAft>
                <a:spcPts val="600"/>
              </a:spcAft>
              <a:defRPr sz="1150">
                <a:solidFill>
                  <a:srgbClr val="0F172A"/>
                </a:solidFill>
                <a:latin typeface="Times New Roman"/>
              </a:defRPr>
            </a:pPr>
            <a:r>
              <a:t>• Định hướng nghiên cứu tiếp theo:</a:t>
            </a:r>
          </a:p>
          <a:p>
            <a:pPr>
              <a:spcAft>
                <a:spcPts val="600"/>
              </a:spcAft>
              <a:defRPr sz="1150">
                <a:solidFill>
                  <a:srgbClr val="0F172A"/>
                </a:solidFill>
                <a:latin typeface="Times New Roman"/>
              </a:defRPr>
            </a:pPr>
            <a:r>
              <a:t>•   • Tích hợp mô hình ngôn ngữ lớn (RoBERTa / DeBERTa / LLaMA) để hiểu ngữ cảnh ngữ nghĩa tầng sâu.</a:t>
            </a:r>
          </a:p>
          <a:p>
            <a:pPr>
              <a:spcAft>
                <a:spcPts val="600"/>
              </a:spcAft>
              <a:defRPr sz="1150">
                <a:solidFill>
                  <a:srgbClr val="0F172A"/>
                </a:solidFill>
                <a:latin typeface="Times New Roman"/>
              </a:defRPr>
            </a:pPr>
            <a:r>
              <a:t>•   • Tự động trích xuất bằng chứng tri thức từ Wikipedia và Google News để đối chiếu dữ liệu ngoại vi theo thời gian thực.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ord_image2.png"/>
          <p:cNvPicPr>
            <a:picLocks noChangeAspect="1"/>
          </p:cNvPicPr>
          <p:nvPr/>
        </p:nvPicPr>
        <p:blipFill>
          <a:blip r:embed="rId2"/>
          <a:stretch>
            <a:fillRect/>
          </a:stretch>
        </p:blipFill>
        <p:spPr>
          <a:xfrm>
            <a:off x="4754880" y="1371600"/>
            <a:ext cx="3551722" cy="1371600"/>
          </a:xfrm>
          <a:prstGeom prst="rect">
            <a:avLst/>
          </a:prstGeom>
        </p:spPr>
      </p:pic>
      <p:sp>
        <p:nvSpPr>
          <p:cNvPr id="4" name="TextBox 3"/>
          <p:cNvSpPr txBox="1"/>
          <p:nvPr/>
        </p:nvSpPr>
        <p:spPr>
          <a:xfrm>
            <a:off x="1371600" y="3017520"/>
            <a:ext cx="9418320" cy="2286000"/>
          </a:xfrm>
          <a:prstGeom prst="rect">
            <a:avLst/>
          </a:prstGeom>
          <a:noFill/>
        </p:spPr>
        <p:txBody>
          <a:bodyPr wrap="none">
            <a:spAutoFit/>
          </a:bodyPr>
          <a:lstStyle/>
          <a:p>
            <a:pPr algn="ctr">
              <a:defRPr sz="2800" b="1">
                <a:solidFill>
                  <a:srgbClr val="FFFFFF"/>
                </a:solidFill>
                <a:latin typeface="Times New Roman"/>
              </a:defRPr>
            </a:pPr>
            <a:r>
              <a:t>CẢM ƠN CÔ VÀ CÁC BẠN ĐÃ LẮNG NGHE!</a:t>
            </a:r>
          </a:p>
          <a:p>
            <a:pPr algn="ctr">
              <a:spcBef>
                <a:spcPts val="1200"/>
              </a:spcBef>
              <a:defRPr sz="1400" b="1">
                <a:solidFill>
                  <a:srgbClr val="2563EB"/>
                </a:solidFill>
                <a:latin typeface="Times New Roman"/>
              </a:defRPr>
            </a:pPr>
            <a:r>
              <a:t>NHÓM RẤT MONG NHẬN ĐƯỢC NHẬN XÉT VÀ ĐÓNG GÓP TỪ GIẢNG VIÊN VÀ HỘI ĐỒNG</a:t>
            </a:r>
          </a:p>
          <a:p>
            <a:pPr algn="ctr">
              <a:spcBef>
                <a:spcPts val="800"/>
              </a:spcBef>
              <a:defRPr sz="1300">
                <a:solidFill>
                  <a:srgbClr val="94A3B8"/>
                </a:solidFill>
                <a:latin typeface="Times New Roman"/>
              </a:defRPr>
            </a:pPr>
            <a:r>
              <a:t>Khoa Công Nghệ Thông Tin - Trường Đại Học Thủy Lợi (TLU)</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8229600" cy="320040"/>
          </a:xfrm>
          <a:prstGeom prst="rect">
            <a:avLst/>
          </a:prstGeom>
          <a:noFill/>
        </p:spPr>
        <p:txBody>
          <a:bodyPr wrap="none">
            <a:spAutoFit/>
          </a:bodyPr>
          <a:lstStyle/>
          <a:p>
            <a:pPr>
              <a:defRPr sz="1100">
                <a:solidFill>
                  <a:srgbClr val="E2E8F0"/>
                </a:solidFill>
                <a:latin typeface="Times New Roman"/>
              </a:defRPr>
            </a:pPr>
            <a:r>
              <a:t>Báo cáo Đồ án: Khai phá dữ liệu phát hiện tin giả trên tập dữ liệu LIAR-2 (Zero Direct Leakage)</a:t>
            </a:r>
          </a:p>
        </p:txBody>
      </p:sp>
      <p:sp>
        <p:nvSpPr>
          <p:cNvPr id="7" name="TextBox 6"/>
          <p:cNvSpPr txBox="1"/>
          <p:nvPr/>
        </p:nvSpPr>
        <p:spPr>
          <a:xfrm>
            <a:off x="10515600" y="6492240"/>
            <a:ext cx="1097280" cy="320040"/>
          </a:xfrm>
          <a:prstGeom prst="rect">
            <a:avLst/>
          </a:prstGeom>
          <a:noFill/>
        </p:spPr>
        <p:txBody>
          <a:bodyPr wrap="none">
            <a:spAutoFit/>
          </a:bodyPr>
          <a:lstStyle/>
          <a:p>
            <a:pPr algn="r">
              <a:defRPr sz="1100" b="1">
                <a:solidFill>
                  <a:srgbClr val="E2E8F0"/>
                </a:solidFill>
                <a:latin typeface="Times New Roman"/>
              </a:defRPr>
            </a:pPr>
            <a:r>
              <a:t>32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